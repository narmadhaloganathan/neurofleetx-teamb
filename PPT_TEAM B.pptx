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88" r:id="rId5"/>
    <p:sldId id="274" r:id="rId6"/>
    <p:sldId id="306" r:id="rId7"/>
    <p:sldId id="312" r:id="rId8"/>
    <p:sldId id="305" r:id="rId9"/>
    <p:sldId id="311" r:id="rId10"/>
    <p:sldId id="304" r:id="rId11"/>
    <p:sldId id="308" r:id="rId12"/>
    <p:sldId id="307" r:id="rId13"/>
    <p:sldId id="309" r:id="rId14"/>
    <p:sldId id="31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7F7F7F"/>
    <a:srgbClr val="302030"/>
    <a:srgbClr val="79A466"/>
    <a:srgbClr val="A466A1"/>
    <a:srgbClr val="7C4B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41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03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5332F6-84D5-43CF-B5CE-301BBE7CB9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B049E7-4E52-4F78-B7E3-9EEEB887E5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782036-3E43-445A-9A77-06D97C6EDFFA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DD62C5-62E7-4FCF-A26E-C100A22EE5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9C5A79-BC51-4C21-A236-759CEAE5D8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33638-148D-48F3-93EA-686F1AB9FF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0867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8FFC2-F437-4D89-B6E7-BDC71715B609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4120E-D8D4-4AFA-B0E2-7989D1701D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899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8D1035F-A14F-4F81-AC61-2AF512D7F8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767715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05B43-D8B3-4B3A-93E9-5A84CF7F3D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6042" y="1550988"/>
            <a:ext cx="3284832" cy="2387600"/>
          </a:xfrm>
          <a:prstGeom prst="rect">
            <a:avLst/>
          </a:prstGeom>
        </p:spPr>
        <p:txBody>
          <a:bodyPr anchor="b"/>
          <a:lstStyle>
            <a:lvl1pPr algn="l">
              <a:defRPr sz="5000" cap="all" spc="2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F2A661-E12F-4DA4-89DE-F2048B1B43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6042" y="4057095"/>
            <a:ext cx="3284832" cy="155312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4D5FB-99FD-4266-B81F-46B0376436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4175" y="4241283"/>
            <a:ext cx="10537825" cy="2616717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45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/>
            <a:r>
              <a:rPr lang="en-US" dirty="0"/>
              <a:t>Pitch</a:t>
            </a:r>
          </a:p>
        </p:txBody>
      </p:sp>
    </p:spTree>
    <p:extLst>
      <p:ext uri="{BB962C8B-B14F-4D97-AF65-F5344CB8AC3E}">
        <p14:creationId xmlns:p14="http://schemas.microsoft.com/office/powerpoint/2010/main" val="3377346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E265C839-12C3-47EF-9941-39B43796B3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1215" y="0"/>
            <a:ext cx="6830785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6AB2BC9-972D-4B30-981B-BAD528A7FB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002437"/>
            <a:ext cx="12186555" cy="285556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5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/>
            <a:r>
              <a:rPr lang="en-US" dirty="0"/>
              <a:t>About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F2E92-C9AF-47A3-84EF-181F642A4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F2C06-CE94-4D97-A7F5-08D8D7BF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0CA9D-6428-41AF-B478-FB553C041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14FDE4-5230-4BC7-8C8A-024BF947CD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901598"/>
            <a:ext cx="3684814" cy="336548"/>
          </a:xfrm>
          <a:prstGeom prst="rect">
            <a:avLst/>
          </a:prstGeom>
        </p:spPr>
        <p:txBody>
          <a:bodyPr anchor="b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5062B64-8BE7-421C-8F8F-F0CEEB1C5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1454764"/>
            <a:ext cx="3684814" cy="280159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1A8088E-EE7F-4006-9745-8926E1ABB691}"/>
              </a:ext>
            </a:extLst>
          </p:cNvPr>
          <p:cNvCxnSpPr>
            <a:cxnSpLocks/>
          </p:cNvCxnSpPr>
          <p:nvPr userDrawn="1"/>
        </p:nvCxnSpPr>
        <p:spPr>
          <a:xfrm>
            <a:off x="587189" y="0"/>
            <a:ext cx="0" cy="3048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950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3D34C3A-6235-4BB3-A283-CAE0A33D37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EDE6B-5E65-4F08-A24A-A9EC90670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74259-E892-4133-9796-2A1A30CF7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2A321-B440-475F-8F1F-B5B3B697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D1A311C-7C5B-4A6A-9430-1FDF9E65E2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6050" y="2149803"/>
            <a:ext cx="2383973" cy="158314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9294BC1C-A5F3-4428-A88F-0029F652AE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6050" y="1783378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E1A93ECB-2477-4750-92EB-808431F558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34192" y="2149803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1B981D60-5094-418F-8053-F9AC3EE2F6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192" y="1783378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D4577FD4-018C-4FC5-8B3C-5F10F8D1D7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76050" y="4414557"/>
            <a:ext cx="2383973" cy="154992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F7BB952E-0716-4503-B1A2-C64348D4C6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76050" y="4048132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31F6468A-E1B5-499E-BE6D-B6B35AB5C0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34192" y="4414557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7A73001-AEEA-4FA6-BD1D-2FB7F79AB2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34192" y="4048132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kern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7D1EE2B-BA7E-4102-A1AB-D36A04A327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6051" y="893523"/>
            <a:ext cx="5094517" cy="296198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84447B14-E16C-4164-8093-80762E5341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92333" y="2149803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ADD1433-3072-4EBB-9720-0F0DB8DE2A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92333" y="1783378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857263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BEAA80F-F328-4E79-9BF7-351D45B7B7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29788" y="1449390"/>
            <a:ext cx="15294428" cy="30765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/>
            <a:r>
              <a:rPr lang="en-US" dirty="0"/>
              <a:t>Solution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1422C-C630-4C48-A1BD-5097502AC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F124C-643E-4BA6-9FF7-DFF06D9A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ACCC8-5EF3-4F6A-B7EC-5208088F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AD665EC-5C19-4FBE-8A06-0D1AA7483E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0714" y="1863161"/>
            <a:ext cx="9993085" cy="892630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89BE564-7E4F-4A70-9321-1F1BB911BA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7573" y="3751002"/>
            <a:ext cx="2383973" cy="158314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821488E-83E5-4683-8C32-9E4E97E57C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7573" y="3384577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4EE872B-A4DD-4519-AFD8-36F6339BAB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94316" y="3751002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1577DCED-2EF9-4095-B443-E1D09F96DE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94316" y="3384577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0638478C-F9BC-4D44-96AB-486806CC9C2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1057" y="3751002"/>
            <a:ext cx="2383973" cy="154992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7CA913FF-6AA8-4452-95D6-DAE89F1071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1057" y="3384577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513D6F39-D316-4BC6-872C-70B2AEABF2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7800" y="3751002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812D9D34-44F4-4272-B889-6A16352E6C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7800" y="3384577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kern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52923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FE652442-8170-498C-A898-AF94B2DD11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62439" y="0"/>
            <a:ext cx="5328822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70AEB0-C94B-4451-9167-6BD905C0F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2ADD39-75F0-48ED-9F83-73018639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46418F-6895-486C-A333-AE3A509B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FEC7295-AA7A-4373-AFCC-01672D7926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154063"/>
            <a:ext cx="2383973" cy="145292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598ED1F4-A00A-4498-9EE6-005CF2D8FA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787638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CF8F506C-096D-434B-8C0A-B784CA4AC7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8746" y="2154063"/>
            <a:ext cx="2383972" cy="14224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DC47ED6-4130-40E7-8FC9-D611942AC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48746" y="1787638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ED4BD005-97C0-42DC-8C08-6B9F4DB001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415035"/>
            <a:ext cx="2383973" cy="13326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96E60615-9B40-4EAF-87C7-81C56B101A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4048610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A88908D1-7E92-448F-A890-1C2E229F6C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48746" y="4415035"/>
            <a:ext cx="2383972" cy="13326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1BD5AD54-7BC4-4C94-BE3A-18B3144A2B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8746" y="4048610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kern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3673029-D2A1-4074-ACCA-13D6DE34D6B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893045"/>
            <a:ext cx="5094517" cy="296676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926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20E9FD2F-C591-4424-9786-FC0584ED99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3429000"/>
            <a:ext cx="12196282" cy="34290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3A582BA-E159-4C50-B38C-77C5DBB401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8200" y="-2355262"/>
            <a:ext cx="11353799" cy="5551580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150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/>
            <a:r>
              <a:rPr lang="en-US" dirty="0"/>
              <a:t>Benefits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03B677-4EE8-4758-B5E7-E0E647963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48A148-5926-44EC-857E-A52EE5AB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CD214-48A4-4D6C-9016-FDB6AD88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55EB74-3BFE-4C75-92A7-86B8A0870A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27508"/>
            <a:ext cx="10515600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EBA1834-F4E8-4C34-9017-E3D85F613D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453589"/>
            <a:ext cx="10515600" cy="151821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13413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F9C9AE60-466C-4BDA-9E87-7701D81CFE3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DF025DF-FE0B-4046-8687-417DFBEB31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3250937" y="1278117"/>
            <a:ext cx="19788513" cy="25146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Company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4DB932-57BE-437E-B336-17F289AFD7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53218" y="2685143"/>
            <a:ext cx="9685563" cy="1487714"/>
          </a:xfrm>
          <a:prstGeom prst="rect">
            <a:avLst/>
          </a:prstGeom>
        </p:spPr>
        <p:txBody>
          <a:bodyPr anchor="ctr"/>
          <a:lstStyle>
            <a:lvl1pPr algn="ctr">
              <a:defRPr sz="5000" cap="all" spc="2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82318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F9D74B8-165B-49A6-ACBB-8B7950289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0B316D0-6EE1-4FB2-A993-B0CD4CFE50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1325217" y="3977202"/>
            <a:ext cx="16229934" cy="2852057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Business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0495B-28B8-4389-8E1C-F335846C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E258A-A128-4BAF-B8C3-723C6382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69002-18F2-427F-A791-0E26DD2F0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3AD8AD8-9C40-44FB-8FF8-815C534582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2067161"/>
            <a:ext cx="4386945" cy="100619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1411AFC0-5C52-4C0E-AD29-3DFFD3039C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1766051"/>
            <a:ext cx="4386945" cy="464399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010AEB-C0FD-48C8-A1FA-1BD96B6A548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22217"/>
            <a:ext cx="4386945" cy="639955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8B45D3B9-84F4-4A17-9D4D-8CBE603A14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3199611"/>
            <a:ext cx="4386945" cy="464399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7A1B57C-13D8-4BB6-9D45-D83EB1BD66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3512803"/>
            <a:ext cx="4386758" cy="10064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301C86B-1946-426F-9494-C64455A7E6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7976" y="4643683"/>
            <a:ext cx="4386945" cy="464399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BD347B5-FD69-4D61-BBDA-09FB8EF51B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7977" y="4956875"/>
            <a:ext cx="4386758" cy="10064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text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CBD29BE-7E3F-457E-808D-E151E479D755}"/>
              </a:ext>
            </a:extLst>
          </p:cNvPr>
          <p:cNvCxnSpPr>
            <a:cxnSpLocks/>
          </p:cNvCxnSpPr>
          <p:nvPr userDrawn="1"/>
        </p:nvCxnSpPr>
        <p:spPr>
          <a:xfrm>
            <a:off x="590349" y="923365"/>
            <a:ext cx="0" cy="593463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302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vervie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721D2A8-92CC-4A4D-9252-1D5E72D999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0"/>
            <a:ext cx="13879773" cy="25146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Market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09877-9D5E-4728-9E1B-F801C727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5AAD1-49C3-459F-8752-6773813AA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C1F07-5ADF-4FA1-890D-55E05685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E430114-0FFE-44D3-9D11-77F649F9B1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75483" y="1941509"/>
            <a:ext cx="4386945" cy="639955"/>
          </a:xfrm>
          <a:prstGeom prst="rect">
            <a:avLst/>
          </a:prstGeom>
        </p:spPr>
        <p:txBody>
          <a:bodyPr anchor="ctr"/>
          <a:lstStyle>
            <a:lvl1pPr algn="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4A448A10-6C5A-42B4-AFD7-DF6DD58F07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0223" y="4076963"/>
            <a:ext cx="2834640" cy="11516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D1B0E05-9C40-4BB7-B07F-D8FD6B11F6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0773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FF94E508-0A60-413A-9DE0-DE8BDEC1FC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8372" y="4076963"/>
            <a:ext cx="2833338" cy="11516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3A34A8A7-647E-4685-A99B-1177931A13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5219" y="4076963"/>
            <a:ext cx="2833339" cy="11516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CDC73-A31B-4C94-AE4B-BDC32D94F1EA}"/>
              </a:ext>
            </a:extLst>
          </p:cNvPr>
          <p:cNvCxnSpPr>
            <a:cxnSpLocks/>
          </p:cNvCxnSpPr>
          <p:nvPr userDrawn="1"/>
        </p:nvCxnSpPr>
        <p:spPr>
          <a:xfrm>
            <a:off x="860223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DD83A920-6634-4731-94D5-4186C82C6A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37619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6592B16-F73C-4572-ACB3-FBB03EE7EE7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804467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8685373-D021-44D0-B9F5-DD46F7C2EACA}"/>
              </a:ext>
            </a:extLst>
          </p:cNvPr>
          <p:cNvCxnSpPr>
            <a:cxnSpLocks/>
          </p:cNvCxnSpPr>
          <p:nvPr userDrawn="1"/>
        </p:nvCxnSpPr>
        <p:spPr>
          <a:xfrm>
            <a:off x="8593917" y="3939883"/>
            <a:ext cx="27411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020995-72BD-4944-B899-E6DA4064D131}"/>
              </a:ext>
            </a:extLst>
          </p:cNvPr>
          <p:cNvCxnSpPr>
            <a:cxnSpLocks/>
          </p:cNvCxnSpPr>
          <p:nvPr userDrawn="1"/>
        </p:nvCxnSpPr>
        <p:spPr>
          <a:xfrm>
            <a:off x="4727069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0C8E87B-2B7F-4A86-8EE0-6B1F9CDB72CD}"/>
              </a:ext>
            </a:extLst>
          </p:cNvPr>
          <p:cNvCxnSpPr>
            <a:cxnSpLocks/>
          </p:cNvCxnSpPr>
          <p:nvPr userDrawn="1"/>
        </p:nvCxnSpPr>
        <p:spPr>
          <a:xfrm>
            <a:off x="8593917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009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927B5-CD76-4CF2-9218-21B4ABE3C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E09AE-94B2-4BFF-BDCE-0B4930D63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DB683-0E38-45C3-A062-8642CC4C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3A9F833-D729-4A7C-AE1F-BAAF1214BA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428271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914E175-8C78-40BB-9962-8A85F2F0E4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753993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13F63585-E36E-41A6-95F2-CD2BE2D655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26428" y="4428271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10FF23F7-3892-471E-AFA1-0D8BE8F43F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6428" y="4753993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24D6B59F-6577-4B1E-B7F8-134B42084E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14657" y="4428271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9A963ED-FD03-4AAC-B023-59B209A5EB8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14657" y="4753993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23ED9778-7DC1-4EFA-92B5-2B9F0740F5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89604" y="724868"/>
            <a:ext cx="6212793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1777D6D-27DD-4DA3-8C4C-B8F9BA9B18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90331" y="2383034"/>
            <a:ext cx="1837944" cy="1837944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$3b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B99795F1-D282-42EE-BFEC-2F47E8BE5D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78559" y="2383034"/>
            <a:ext cx="1837944" cy="1837944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$2b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7EDCD32-FC44-473D-A0D4-F71DAF57286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6788" y="2383034"/>
            <a:ext cx="1837944" cy="1837944"/>
          </a:xfrm>
          <a:prstGeom prst="ellipse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$1b</a:t>
            </a:r>
          </a:p>
        </p:txBody>
      </p:sp>
    </p:spTree>
    <p:extLst>
      <p:ext uri="{BB962C8B-B14F-4D97-AF65-F5344CB8AC3E}">
        <p14:creationId xmlns:p14="http://schemas.microsoft.com/office/powerpoint/2010/main" val="865040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9332B195-6B28-453B-8483-E18845F548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0"/>
            <a:ext cx="12196282" cy="2442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70B36DB2-10C9-40E1-A939-F9F3E99AA97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-316523" y="104279"/>
            <a:ext cx="12508523" cy="267923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20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Comp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034CA5-4FBD-4728-A5D5-B55A51F3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B12970-8175-4B63-9ABC-FF21E5FB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5FFB0-6DFB-4547-AB5E-A22910F4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B15B0B7-1296-4FBF-8D28-A0D282176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9728" y="2679238"/>
            <a:ext cx="4386945" cy="545148"/>
          </a:xfrm>
          <a:prstGeom prst="rect">
            <a:avLst/>
          </a:prstGeom>
        </p:spPr>
        <p:txBody>
          <a:bodyPr anchor="b"/>
          <a:lstStyle>
            <a:lvl1pPr algn="l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1958F62-D93E-4433-9FC8-4CFA9792BD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9728" y="4085594"/>
            <a:ext cx="4953000" cy="2046251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D482AA-5393-4260-A25C-77242CC39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728" y="3706090"/>
            <a:ext cx="4953000" cy="42639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7434F13-1C2F-416A-A9F8-479D11410B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0800" y="4085594"/>
            <a:ext cx="4953000" cy="2046251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C8B7634-CFB8-480E-9065-D580A1801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00800" y="3706090"/>
            <a:ext cx="4953000" cy="42639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9710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33EF2-C2C4-4062-9D92-0FB27729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3FBE5-A165-4D71-A770-FE4E13B1A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91C94-93DA-4850-9EE8-968DAF89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C9C019F9-A0CC-42FD-9A58-9A76FBC647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6499" y="1425477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F0A1D53-A949-49E7-820F-D18CEC7EA7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6499" y="5294320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FC5403F6-AE51-438F-AF93-56FA7D2A56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0311" y="3354359"/>
            <a:ext cx="1380681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94832D-1AEB-4A7B-8BC3-8AC645057F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43347" y="2194947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9DED817B-58D3-4713-A66F-2E4CF578D5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79839" y="4307664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1FE5CBC-B2B8-45FE-986C-504C397B9E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42362" y="4439394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E71774F-D73F-4B7F-9152-95EC3F36DD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98712" y="4008089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1154305F-5D9B-4B4A-9F2B-6FBECE7371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3692" y="3354359"/>
            <a:ext cx="1209143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C5FED44-231C-4E53-B41C-81293135ACB1}"/>
              </a:ext>
            </a:extLst>
          </p:cNvPr>
          <p:cNvCxnSpPr>
            <a:cxnSpLocks/>
          </p:cNvCxnSpPr>
          <p:nvPr userDrawn="1"/>
        </p:nvCxnSpPr>
        <p:spPr>
          <a:xfrm>
            <a:off x="4756662" y="360037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2105B5D-04B2-4415-A88E-6BE695BAD6D0}"/>
              </a:ext>
            </a:extLst>
          </p:cNvPr>
          <p:cNvCxnSpPr>
            <a:cxnSpLocks/>
          </p:cNvCxnSpPr>
          <p:nvPr userDrawn="1"/>
        </p:nvCxnSpPr>
        <p:spPr>
          <a:xfrm flipV="1">
            <a:off x="7089982" y="191750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F362A87-DBB9-4FFD-9F42-9D6D5AD35E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52879" y="1954712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B6713B5A-6FE2-4827-A18D-2F81B40F069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59355" y="4708093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2B665ABC-CB0A-4595-8165-3205CED4DC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2040" y="722218"/>
            <a:ext cx="4386945" cy="639955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94769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 Strateg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09839D-FDC1-4EDF-9E51-F73351AB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B182A-200F-405E-B287-2F7A7F92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8CEAE-624C-4615-8252-893F3A04C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8AE4140-1E60-4ABF-8C5B-6AA2491687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89603" y="727515"/>
            <a:ext cx="6212793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62056E9-39CD-4DAA-AF46-D107C1680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0446" y="4192395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39F4B0E4-0A8E-4F79-B6E9-9015E62C2C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09724" y="4192396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128A45A-DF71-4640-A1BF-8F1866D09C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3400" y="4192395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D63BCEA8-1DF2-474C-A867-36E22D2F61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9603" y="1124727"/>
            <a:ext cx="6212793" cy="56889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cap="none" spc="100" baseline="0">
                <a:solidFill>
                  <a:schemeClr val="accent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F23D9F0-2D86-4938-96EE-A32A42E6DB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06278" y="2482446"/>
            <a:ext cx="1581912" cy="1581912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154C8C8A-D882-4AB4-BD1F-8D2E1EF0A8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26320" y="2482446"/>
            <a:ext cx="1581912" cy="1581912"/>
          </a:xfrm>
          <a:prstGeom prst="ellipse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8F571DC-88C7-42E3-8699-F9C41BE828F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69996" y="2482446"/>
            <a:ext cx="1581912" cy="1581912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485222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48AB2-7C16-4B56-A53A-93B714BC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BB994E-24A9-40A8-93EB-5515D89E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F8D0D-83A0-4570-97D9-255518FC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9591A4D-603C-42D9-AA8F-07BD22871E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60939" y="725448"/>
            <a:ext cx="5870122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B9A868-1432-40BF-A3DF-CB2F9542988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4141" y="2326023"/>
            <a:ext cx="4998576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6772DEF8-21EE-47DD-AE5F-1EC03FDCF7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838" y="2326023"/>
            <a:ext cx="5007023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C31E94F-1411-4EA2-8AB2-A76E9A57837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60940" y="1113029"/>
            <a:ext cx="5870121" cy="56889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cap="none" spc="100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F0062E6-1EBE-4CBF-B0D1-4737DBF54008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906949" y="2925763"/>
            <a:ext cx="5010912" cy="2651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14">
            <a:extLst>
              <a:ext uri="{FF2B5EF4-FFF2-40B4-BE49-F238E27FC236}">
                <a16:creationId xmlns:a16="http://schemas.microsoft.com/office/drawing/2014/main" id="{0E683F27-7485-420D-A15D-93A48B8CFD27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261805" y="2874716"/>
            <a:ext cx="5010912" cy="2651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759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F6C305-4C96-4875-9AEF-C88E3E62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FFF3E7-19BF-4E1B-86A9-BB3CBD897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D6203-1BDD-481A-8B5A-0CE7676C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6458F71-90A6-4816-BD12-E5F24297EB5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2040" y="724868"/>
            <a:ext cx="4386945" cy="639955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5C6C0E-E988-4670-AC4F-46DF25AB1A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08F3328-96B5-4F00-9D88-C2B1CFB100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F2A90E7-217C-439F-A3C7-41589A223F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0365" y="3027930"/>
            <a:ext cx="615309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8553117D-AEE8-4CDA-9B76-4465B03947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D768892F-3B07-49B8-B76F-DA245223D2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02793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C805EDD-6FC0-466B-B5E2-AA7150A858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9D2E9DFD-B289-41E0-A706-0DF99250C3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9CFE769-E334-4852-98D4-D2686E7A17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7978" y="302793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656E6239-48C4-41A4-9AA4-44A85F3A09D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677AF2E7-6E1A-4486-9E9C-831E8AA4E3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4CB8F8F-95F4-4C90-B6B0-E05E3FD390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46420" y="302793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D4D4CBEB-ED3F-458B-89D4-BF7B87EEA7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D178BD8-37BB-4369-9089-458E4AFC02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EB35E26F-6E4D-49E5-8B52-C3DFC5DAED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57091E21-E4FD-4EFC-A957-BC31C0E5E06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0365" y="4871997"/>
            <a:ext cx="615309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93BD433F-C233-4D3A-A836-157F6D8E787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A047DD8B-C64B-4EEF-A394-1EF5D78C919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9F7A3216-3089-45BC-B307-8D5B15FE5D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C4C055EF-54DF-4BA1-A25C-B1010981E7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6C13F5D-6794-400F-906D-2D40EEEC343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77978" y="48719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45714E98-02E2-48DF-9367-87F55E4FB6A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C13007C-3478-4694-B3D7-8AE2F4C80DE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0F8E2313-703C-4CF3-9F33-F2FA123ED3B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6420" y="48719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1BB185B-EE3A-4221-9885-0A23F6BB9B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ABA1EBA0-06C6-4473-9072-0B46D901EEE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6804" y="2618463"/>
            <a:ext cx="10210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E3E7422E-C8DE-4304-BC2C-D7A9200338B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804" y="4449901"/>
            <a:ext cx="10210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E5B67A4A-03EA-4C59-B052-C3AC8624919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58310"/>
            <a:ext cx="1440088" cy="46959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386D9727-6EAF-44BD-B5BB-FF9FB2E38F2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58310"/>
            <a:ext cx="1440088" cy="46959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8ED3541C-CC4E-4C36-9758-9D66DDE2BA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58310"/>
            <a:ext cx="1440088" cy="46959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5C4B9123-0034-44EB-AE51-BE0E95C36F9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4003137"/>
            <a:ext cx="1440088" cy="40878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F6EBC080-B92D-4FC1-91BB-CBB7312590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4003137"/>
            <a:ext cx="1440088" cy="40878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45A0B38A-6949-43DC-8059-9B50415B16B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4003137"/>
            <a:ext cx="1440088" cy="40878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38423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216878F0-817D-4F26-8B43-746016119A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4661647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B4271A-ED63-46FF-9282-ECA9140CB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05D42-821E-4E1A-ACD8-5D4B39CFC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A47555-EEE6-41B1-9AA5-E70CA2B6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D863BC-52D6-4182-94E2-EA35621A8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60889" y="729426"/>
            <a:ext cx="5903262" cy="635397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F792BF5-C216-472F-93C8-9E12D88E6BB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0988" y="1625600"/>
            <a:ext cx="5903912" cy="4429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0576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Our Team 4-Up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1C49FEB-B8EF-4D85-AF1E-FF1A08DED4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" y="1"/>
            <a:ext cx="12192000" cy="25146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35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Team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1E4D1-453A-486C-AC10-C42024603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D6862B-8836-4F15-B05B-24B5EFFD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95F47-BBF4-4271-B6F5-E9C3507A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06E153E-70D2-4FA6-AE08-1FF5408973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33903" y="1655011"/>
            <a:ext cx="6324194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DC04EBE4-2F20-469F-8A53-9BEC2E37822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644345" y="2757949"/>
            <a:ext cx="1451493" cy="146222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4BA6AEB-B1AF-4446-A7B4-97B679BC93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4655" y="4463647"/>
            <a:ext cx="2330873" cy="442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3462D3F-0728-4C38-B170-389153ED5A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04655" y="4779469"/>
            <a:ext cx="2330873" cy="442298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E3EC61F-D3A5-4658-8BA3-A91338AF2FA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33091" y="2757949"/>
            <a:ext cx="1451493" cy="146222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CDB9F756-6446-412A-9650-AAB15FCA362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621836" y="2757949"/>
            <a:ext cx="1451493" cy="146222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82166CD-0B9A-4F3F-9C64-C140FABE85C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110582" y="2757949"/>
            <a:ext cx="1451493" cy="146222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0DF12CD-BCB4-467F-B7E3-499EC97EFE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93400" y="4463647"/>
            <a:ext cx="2330874" cy="442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A467C8A-05E4-4C98-85BA-9199B1C1E1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93400" y="4779469"/>
            <a:ext cx="2330874" cy="442298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058072E-F9B0-4371-960E-E67B496E30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82145" y="4463647"/>
            <a:ext cx="2330875" cy="442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A657816-CBF3-4FE7-86AD-21BF42DD152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2145" y="4779469"/>
            <a:ext cx="2330875" cy="442298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886C1499-EEAF-4BF5-99C2-BE435BED3F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70891" y="4463647"/>
            <a:ext cx="2330875" cy="442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8984A54-7368-4F62-B02D-6A06236600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70891" y="4779469"/>
            <a:ext cx="2330875" cy="442298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2939626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Our Team 8-Up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F087D-92DE-4035-8192-586AF5C8F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9928F3-1B10-463F-9157-B6A079A79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BA99F-4B60-460A-B00E-4D0B0DDD5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5A869ECF-2DFC-48EE-97D9-84DCD25E547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979488" y="1979244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156C8A56-CD27-4C90-94A0-6C6EE02744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85529" y="3495484"/>
            <a:ext cx="2085792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22104C50-BDDE-4917-8F64-30BB543A734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59819" y="3269516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16490CE7-7241-4A9F-9A19-0D1533BA52E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59818" y="3495484"/>
            <a:ext cx="2085793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2C7036D-56D2-4D6E-8F25-344484C61A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4108" y="3269684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420E5CE0-16E9-48C3-AEAE-C29C2448D7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34107" y="3495484"/>
            <a:ext cx="2085791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32463BC-AC80-43A6-8BB3-50F5A28E80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08394" y="3269516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4CF5287C-0936-4244-B1EE-226996FEC9A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08391" y="3495484"/>
            <a:ext cx="2085791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80E59778-6A5E-4CAE-8EB2-BBEBB43F6D4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85530" y="3269516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393D72E6-E684-4731-B139-4BA8111999D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85442" y="5546241"/>
            <a:ext cx="2085792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17AF8A36-96BD-4383-BD10-0AF6C3CAA21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859819" y="532027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F26B5D3A-6C13-4204-9756-1BCA5AE8D12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859730" y="5546241"/>
            <a:ext cx="2085793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80D112F0-B8AB-4FA9-B732-BE08CD1234D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34108" y="5320441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4784D9A7-36A5-4F3B-AA7B-CB5E2D65594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34063" y="5546241"/>
            <a:ext cx="2085791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D7A99E46-923F-4364-BF2F-FBB534A1064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608394" y="532027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506EFF4D-3C39-4F6E-A14E-EFF1C741CCC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608391" y="5546241"/>
            <a:ext cx="2085791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0C5A43DB-AE3F-48FC-B6D4-8879D4CDADB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85530" y="532027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BF616705-4A53-4806-B16C-BA39A5A02D23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353776" y="1979244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12C5AB77-7FB0-4FE2-A742-FA367227763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728064" y="1979244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0" name="Picture Placeholder 9">
            <a:extLst>
              <a:ext uri="{FF2B5EF4-FFF2-40B4-BE49-F238E27FC236}">
                <a16:creationId xmlns:a16="http://schemas.microsoft.com/office/drawing/2014/main" id="{8A37ED26-A40F-40E4-9FB0-0F305BCB23F4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102352" y="1979244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1" name="Picture Placeholder 9">
            <a:extLst>
              <a:ext uri="{FF2B5EF4-FFF2-40B4-BE49-F238E27FC236}">
                <a16:creationId xmlns:a16="http://schemas.microsoft.com/office/drawing/2014/main" id="{B6231166-8699-4C7F-8542-01C947970C37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979488" y="4028080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2" name="Picture Placeholder 9">
            <a:extLst>
              <a:ext uri="{FF2B5EF4-FFF2-40B4-BE49-F238E27FC236}">
                <a16:creationId xmlns:a16="http://schemas.microsoft.com/office/drawing/2014/main" id="{C8BBF1DC-9382-4EDC-8A43-26FBDBA89C72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4353776" y="4028080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E1600B1D-A51F-4CD2-B131-483A6088B90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6728064" y="4028080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C6C004ED-2B06-4144-9164-96A4CDC05395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102352" y="4028080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4002D7BD-981B-493B-A5A0-DA83B65931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33903" y="724868"/>
            <a:ext cx="6324194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8697476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6A6C4-760E-4DFC-9166-0346E320E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830E9-38B9-41B2-9047-8F9003630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5897FB-ACEE-45BF-9704-D517B9B95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61A60D-EA13-4C4C-9816-85480A2E2A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33903" y="724868"/>
            <a:ext cx="6324194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1C424B8B-6301-4675-9015-050DF1DF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511" y="405964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4297A50-8392-4EB9-9BF6-451C4B9977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511" y="465139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1B3A901-BBC6-44D9-9C97-6CFD76C17C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84039" y="405964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C60306D6-8D77-403B-B3D3-93E771A63E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4039" y="465139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156D61BA-EB24-4A41-8CAD-DF8D3ACF23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7567" y="405964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7D92CD70-81FF-405A-B419-FCACE6F2F9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7567" y="465139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1F7A98D9-A50A-41D8-BD51-327D4B647F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51094" y="405964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CD4953C5-A270-4C37-B878-3D3E51E01A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1094" y="465139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B419FAA5-674D-4D1B-B6F0-7F6B786D9D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85758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4301E9A5-7F5A-49AF-A4F3-EA73CC5590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52814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44658DCD-8753-4536-A41F-2975ECE9D03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36341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708ADA9-A84B-4176-A4A4-3BEEB2F71F9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69286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9275720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9FD50E8B-97D3-485C-9645-AACC303DDF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-1"/>
            <a:ext cx="12196282" cy="291737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4211F90-6E18-443B-BDFF-5A72A79502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4006735"/>
            <a:ext cx="12192000" cy="2851264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Sum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B2CC2F-A541-4A4B-985A-73901B9F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D1C2B-CD69-4515-87A0-866E32DC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4DBC1-4594-4961-A9D3-27E0113B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15AE508-339B-4118-9121-4A160D09F2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4122721"/>
            <a:ext cx="2895600" cy="1111250"/>
          </a:xfrm>
          <a:prstGeom prst="rect">
            <a:avLst/>
          </a:prstGeom>
        </p:spPr>
        <p:txBody>
          <a:bodyPr anchor="ctr"/>
          <a:lstStyle>
            <a:lvl1pPr algn="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3A3F931-4B84-489F-8B0A-7FEF462532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2514" y="3833158"/>
            <a:ext cx="7021287" cy="1690377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91993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61D6F08F-239E-4E92-B5E7-36638ED465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7715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8D0F4F-65EB-4DC2-B7AD-AD23E6DBE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F9EC8-F9C6-4CE1-91F5-A956792C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315685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21C21-E285-4AF2-9E8D-243F4CBC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C201BA1-98C5-4728-9204-5B3A2F7B03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87939" y="1638359"/>
            <a:ext cx="3058885" cy="1111250"/>
          </a:xfrm>
          <a:prstGeom prst="rect">
            <a:avLst/>
          </a:prstGeom>
        </p:spPr>
        <p:txBody>
          <a:bodyPr anchor="b"/>
          <a:lstStyle>
            <a:lvl1pPr algn="l">
              <a:defRPr sz="2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5C106A2-F65A-4519-B7A6-CB7477C684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87939" y="3135086"/>
            <a:ext cx="3058885" cy="238845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E7A08CD-CF6C-4ABF-B086-481F36611730}"/>
              </a:ext>
            </a:extLst>
          </p:cNvPr>
          <p:cNvCxnSpPr>
            <a:cxnSpLocks/>
          </p:cNvCxnSpPr>
          <p:nvPr userDrawn="1"/>
        </p:nvCxnSpPr>
        <p:spPr>
          <a:xfrm>
            <a:off x="8130026" y="0"/>
            <a:ext cx="0" cy="4572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4AB2649-B78D-4A9D-9F1D-F447A521EEB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735" y="4698088"/>
            <a:ext cx="11996058" cy="205918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37000"/>
              </a:lnSpc>
              <a:spcBef>
                <a:spcPts val="0"/>
              </a:spcBef>
              <a:buNone/>
              <a:defRPr sz="50000" baseline="0">
                <a:solidFill>
                  <a:schemeClr val="accent6">
                    <a:lumMod val="10000"/>
                    <a:lumOff val="90000"/>
                    <a:alpha val="2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Than</a:t>
            </a:r>
          </a:p>
        </p:txBody>
      </p:sp>
    </p:spTree>
    <p:extLst>
      <p:ext uri="{BB962C8B-B14F-4D97-AF65-F5344CB8AC3E}">
        <p14:creationId xmlns:p14="http://schemas.microsoft.com/office/powerpoint/2010/main" val="238296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4C966-5542-475A-B224-2E541D9AE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bg2">
                    <a:lumMod val="25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1E08C-E5A1-412C-88D3-C6BF9430D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00" baseline="0">
                <a:solidFill>
                  <a:schemeClr val="bg2">
                    <a:lumMod val="25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BAFCC-DBDE-4891-B3DD-4B3754E7D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bg2">
                    <a:lumMod val="25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958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6" r:id="rId13"/>
    <p:sldLayoutId id="2147483667" r:id="rId14"/>
    <p:sldLayoutId id="2147483668" r:id="rId15"/>
    <p:sldLayoutId id="2147483669" r:id="rId16"/>
    <p:sldLayoutId id="2147483663" r:id="rId17"/>
    <p:sldLayoutId id="2147483665" r:id="rId18"/>
    <p:sldLayoutId id="2147483664" r:id="rId19"/>
    <p:sldLayoutId id="2147483661" r:id="rId20"/>
    <p:sldLayoutId id="2147483662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raffic Management System">
            <a:extLst>
              <a:ext uri="{FF2B5EF4-FFF2-40B4-BE49-F238E27FC236}">
                <a16:creationId xmlns:a16="http://schemas.microsoft.com/office/drawing/2014/main" id="{E8FDF2E7-2028-9EA0-D666-D35E69A7731A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42" r="25442"/>
          <a:stretch>
            <a:fillRect/>
          </a:stretch>
        </p:blipFill>
        <p:spPr bwMode="auto">
          <a:xfrm>
            <a:off x="0" y="-1"/>
            <a:ext cx="50082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1413EFA-35A3-85A7-7745-9A82C95D5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1100" y="695960"/>
            <a:ext cx="7000900" cy="2612708"/>
          </a:xfrm>
        </p:spPr>
        <p:txBody>
          <a:bodyPr/>
          <a:lstStyle/>
          <a:p>
            <a:r>
              <a:rPr lang="en-US" sz="4400" dirty="0">
                <a:latin typeface="Algerian" panose="04020705040A02060702" pitchFamily="82" charset="0"/>
              </a:rPr>
              <a:t>Neuro Fleet X – AI Powered Urban Fleet &amp; Traffic Intelligence</a:t>
            </a:r>
            <a:endParaRPr lang="en-IN" sz="4400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7223ACF1-1FDC-FA4B-645A-576D6622413F}"/>
              </a:ext>
            </a:extLst>
          </p:cNvPr>
          <p:cNvSpPr txBox="1">
            <a:spLocks/>
          </p:cNvSpPr>
          <p:nvPr/>
        </p:nvSpPr>
        <p:spPr>
          <a:xfrm>
            <a:off x="5862320" y="3759200"/>
            <a:ext cx="6236074" cy="12192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kern="1200" cap="all" spc="2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Aptos" panose="020B0004020202020204" pitchFamily="34" charset="0"/>
              </a:rPr>
              <a:t>INFOSYS SPRINGBOARD VIRTUAL INTERNSHIP 6.0</a:t>
            </a:r>
            <a:br>
              <a:rPr lang="en-IN" sz="1800" dirty="0">
                <a:latin typeface="Aptos" panose="020B0004020202020204" pitchFamily="34" charset="0"/>
              </a:rPr>
            </a:br>
            <a:r>
              <a:rPr lang="en-IN" sz="1800" dirty="0">
                <a:latin typeface="Aptos" panose="020B0004020202020204" pitchFamily="34" charset="0"/>
              </a:rPr>
              <a:t>JAVA BATCH – 7</a:t>
            </a:r>
            <a:br>
              <a:rPr lang="en-IN" sz="1800" dirty="0">
                <a:latin typeface="Aptos" panose="020B0004020202020204" pitchFamily="34" charset="0"/>
              </a:rPr>
            </a:br>
            <a:r>
              <a:rPr lang="en-IN" sz="1800" dirty="0">
                <a:latin typeface="Aptos" panose="020B0004020202020204" pitchFamily="34" charset="0"/>
              </a:rPr>
              <a:t>TEAM - B</a:t>
            </a:r>
          </a:p>
        </p:txBody>
      </p:sp>
    </p:spTree>
    <p:extLst>
      <p:ext uri="{BB962C8B-B14F-4D97-AF65-F5344CB8AC3E}">
        <p14:creationId xmlns:p14="http://schemas.microsoft.com/office/powerpoint/2010/main" val="2835773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Placeholder 274">
            <a:extLst>
              <a:ext uri="{FF2B5EF4-FFF2-40B4-BE49-F238E27FC236}">
                <a16:creationId xmlns:a16="http://schemas.microsoft.com/office/drawing/2014/main" id="{DA00E54B-69E1-493F-B6CC-87583EA2114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668554" y="424679"/>
            <a:ext cx="5870121" cy="568896"/>
          </a:xfrm>
        </p:spPr>
        <p:txBody>
          <a:bodyPr/>
          <a:lstStyle/>
          <a:p>
            <a:r>
              <a:rPr lang="en-IN" sz="2800" dirty="0">
                <a:latin typeface="Aptos Display" panose="020B0004020202020204" pitchFamily="34" charset="0"/>
              </a:rPr>
              <a:t>PROBLEM STATEMENT</a:t>
            </a:r>
            <a:endParaRPr lang="en-US" sz="2800" dirty="0"/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994EE154-010E-49F2-85BA-AC4F2CE3C6C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26368" y="1408938"/>
            <a:ext cx="10327432" cy="4814580"/>
          </a:xfrm>
        </p:spPr>
        <p:txBody>
          <a:bodyPr/>
          <a:lstStyle/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Cities are becoming more crowded with a rapidly increasing number of vehicles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future, roads will have both </a:t>
            </a:r>
            <a:r>
              <a:rPr lang="en-US" altLang="en-US" sz="20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human-driven and autonomous vehicles</a:t>
            </a:r>
            <a:endParaRPr lang="en-US" altLang="en-US" sz="2000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all vehicles together is becoming very complex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000" b="1" u="sng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 of current traffic systems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Cannot handle sudden traffic congestion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not predict high-risk or accident-prone zones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safe and intelligent route guidance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Cannot monitor vehicles continuously in real time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000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F2185-3C0A-49BD-B0D2-30D7AAFD8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703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98F33-5586-6E18-5F3E-0FE4EC16A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Placeholder 274">
            <a:extLst>
              <a:ext uri="{FF2B5EF4-FFF2-40B4-BE49-F238E27FC236}">
                <a16:creationId xmlns:a16="http://schemas.microsoft.com/office/drawing/2014/main" id="{D253B2D0-73FD-140B-DFDB-45494B461D4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698170" y="963739"/>
            <a:ext cx="5870121" cy="568896"/>
          </a:xfrm>
        </p:spPr>
        <p:txBody>
          <a:bodyPr/>
          <a:lstStyle/>
          <a:p>
            <a:r>
              <a:rPr lang="en-IN" sz="2800" dirty="0">
                <a:latin typeface="Aptos Display" panose="020B0004020202020204" pitchFamily="34" charset="0"/>
              </a:rPr>
              <a:t>SCOPE OF PROJECT</a:t>
            </a:r>
            <a:endParaRPr lang="en-US" sz="2800" dirty="0"/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BD065DAA-51CB-150D-0723-FD2C624805C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838130" y="2108749"/>
            <a:ext cx="6960637" cy="1922074"/>
          </a:xfrm>
        </p:spPr>
        <p:txBody>
          <a:bodyPr/>
          <a:lstStyle/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cap="none" dirty="0">
                <a:latin typeface="Aptos Display" panose="020B0004020202020204" pitchFamily="34" charset="0"/>
              </a:rPr>
              <a:t>Manage all vehicles (normal &amp; autonomous)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cap="none" dirty="0">
                <a:latin typeface="Aptos Display" panose="020B0004020202020204" pitchFamily="34" charset="0"/>
              </a:rPr>
              <a:t>Monitor traffic flow and risk zones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cap="none" dirty="0">
                <a:latin typeface="Aptos Display" panose="020B0004020202020204" pitchFamily="34" charset="0"/>
              </a:rPr>
              <a:t>Track vehicle movement in real time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cap="none" dirty="0">
                <a:latin typeface="Aptos Display" panose="020B0004020202020204" pitchFamily="34" charset="0"/>
              </a:rPr>
              <a:t>Support Admin, Manager, and Driver roles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cap="none" dirty="0">
                <a:latin typeface="Aptos Display" panose="020B0004020202020204" pitchFamily="34" charset="0"/>
              </a:rPr>
              <a:t>Show congestion and safe routes using maps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73A7A-3E94-6266-F7E1-06E16221F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796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AA082-6982-6B79-5847-4367A79B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B5A40A16-B075-43E1-7602-668D045A9F2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509462" y="1971589"/>
            <a:ext cx="6692410" cy="3098122"/>
          </a:xfrm>
        </p:spPr>
        <p:txBody>
          <a:bodyPr/>
          <a:lstStyle/>
          <a:p>
            <a:pPr algn="l"/>
            <a:r>
              <a:rPr lang="en-IN" sz="2400" b="1" u="sng" dirty="0"/>
              <a:t> Team Members &amp; Roles – Team B </a:t>
            </a:r>
          </a:p>
          <a:p>
            <a:pPr algn="l"/>
            <a:r>
              <a:rPr lang="en-IN" sz="2400" dirty="0"/>
              <a:t>Ganesh – LOGIN &amp; Admin Module</a:t>
            </a:r>
          </a:p>
          <a:p>
            <a:pPr lvl="0" algn="l"/>
            <a:r>
              <a:rPr lang="en-IN" sz="2400" dirty="0"/>
              <a:t>Narmadha L – Admin Module</a:t>
            </a:r>
          </a:p>
          <a:p>
            <a:pPr lvl="0" algn="l"/>
            <a:r>
              <a:rPr lang="en-IN" sz="2400" dirty="0"/>
              <a:t>Nithin – Manager Module</a:t>
            </a:r>
          </a:p>
          <a:p>
            <a:pPr lvl="0" algn="l"/>
            <a:r>
              <a:rPr lang="en-IN" sz="2400" dirty="0"/>
              <a:t>Dinesh – Driver Module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A7788-510F-F7FE-7A0D-81C5618E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338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29B33-1ABC-247C-7FC5-3B8CC83D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Placeholder 274">
            <a:extLst>
              <a:ext uri="{FF2B5EF4-FFF2-40B4-BE49-F238E27FC236}">
                <a16:creationId xmlns:a16="http://schemas.microsoft.com/office/drawing/2014/main" id="{1D3EA391-F1B2-5C71-91A7-297B2926AA6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433153" y="403902"/>
            <a:ext cx="5870121" cy="568896"/>
          </a:xfrm>
        </p:spPr>
        <p:txBody>
          <a:bodyPr/>
          <a:lstStyle/>
          <a:p>
            <a:r>
              <a:rPr lang="en-IN" sz="2800" dirty="0">
                <a:latin typeface="Aptos Display" panose="020B0004020202020204" pitchFamily="34" charset="0"/>
              </a:rPr>
              <a:t> DELIVERABLES</a:t>
            </a:r>
            <a:endParaRPr lang="en-US" sz="2800" dirty="0"/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5440C45F-36A4-16BD-7D2D-0C80CA0C3CA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99796" y="1436945"/>
            <a:ext cx="10430069" cy="4359567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Fully functional web application developed using react and spring boot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backend APIs with authentication and authorization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Role-based access system supporting three user roles: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Dedicated dashboards for each role with controlled access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traffic and vehicle status updates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Ai-assisted features for: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Traffic congestion detection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High-risk location identification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Safe and efficient route suggestions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3A6AA-95F6-00A7-8E49-EFB72A887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613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EB9C1-7F72-7E78-26B4-040E1DAB7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B1A0D1-57C5-470B-168B-295AB4F74F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1589" y="815523"/>
            <a:ext cx="2382386" cy="613702"/>
          </a:xfrm>
        </p:spPr>
        <p:txBody>
          <a:bodyPr/>
          <a:lstStyle/>
          <a:p>
            <a:r>
              <a:rPr lang="en-IN" dirty="0"/>
              <a:t>Admin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8199990-EA6F-5EBC-3A17-01B52D8A11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8397" y="815523"/>
            <a:ext cx="2382386" cy="613702"/>
          </a:xfrm>
        </p:spPr>
        <p:txBody>
          <a:bodyPr/>
          <a:lstStyle/>
          <a:p>
            <a:r>
              <a:rPr lang="en-IN" dirty="0"/>
              <a:t>Manager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7451CF7-FB2A-A979-64E7-777D59A9CB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50783" y="815523"/>
            <a:ext cx="2382386" cy="613702"/>
          </a:xfrm>
        </p:spPr>
        <p:txBody>
          <a:bodyPr/>
          <a:lstStyle/>
          <a:p>
            <a:r>
              <a:rPr lang="en-IN" dirty="0"/>
              <a:t>Driver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0896A950-08C6-4337-7970-345ACE9B07BA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374845" y="2159523"/>
            <a:ext cx="348187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Full control of the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Manages users (Admins, Managers, Drivers)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Manages vehicles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Views dashboards, alerts, and AI analytics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12F788AB-F9F6-9537-830E-3CF17CE1BBB8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4167025" y="2159523"/>
            <a:ext cx="366991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Monitors traffic and risk zones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Updates traffic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Manages fleet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Handles traffic-related alerts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AEE0F3CB-B12B-354D-4A04-E44D85E2188E}"/>
              </a:ext>
            </a:extLst>
          </p:cNvPr>
          <p:cNvSpPr>
            <a:spLocks noGrp="1" noChangeArrowheads="1"/>
          </p:cNvSpPr>
          <p:nvPr>
            <p:ph type="body" sz="quarter" idx="18"/>
          </p:nvPr>
        </p:nvSpPr>
        <p:spPr bwMode="auto">
          <a:xfrm>
            <a:off x="8147244" y="2159523"/>
            <a:ext cx="366991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Creates and views trips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Follows suggested routes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Shares live location (GPS)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Receives traffic and safety alerts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70013C8A-8F08-7A44-71D9-181876702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6127" y="4465912"/>
            <a:ext cx="627170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Admin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→ Controls everything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Manager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→ Monitors and manages traffic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Driver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→ Uses routes and drives safely</a:t>
            </a:r>
          </a:p>
        </p:txBody>
      </p:sp>
    </p:spTree>
    <p:extLst>
      <p:ext uri="{BB962C8B-B14F-4D97-AF65-F5344CB8AC3E}">
        <p14:creationId xmlns:p14="http://schemas.microsoft.com/office/powerpoint/2010/main" val="1909337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89982-CFFD-3145-B973-C5C3F0DE2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34EE5B3-3C1F-96AC-DF72-BB5EBF385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7616" y="942023"/>
            <a:ext cx="6163612" cy="753330"/>
          </a:xfrm>
        </p:spPr>
        <p:txBody>
          <a:bodyPr/>
          <a:lstStyle/>
          <a:p>
            <a:r>
              <a:rPr lang="en-IN" dirty="0">
                <a:latin typeface="Aptos Display" panose="020B0004020202020204" pitchFamily="34" charset="0"/>
              </a:rPr>
              <a:t> 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19D69D1-E99C-1646-50F5-2806867566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6534" y="319087"/>
            <a:ext cx="8392673" cy="6219825"/>
          </a:xfrm>
        </p:spPr>
        <p:txBody>
          <a:bodyPr/>
          <a:lstStyle/>
          <a:p>
            <a:r>
              <a:rPr lang="en-US" sz="1600" b="1" u="sng" dirty="0"/>
              <a:t>ADMIN:</a:t>
            </a:r>
            <a:br>
              <a:rPr lang="en-US" sz="1600" b="1" dirty="0"/>
            </a:br>
            <a:br>
              <a:rPr lang="en-US" sz="1600" b="1" dirty="0"/>
            </a:br>
            <a:r>
              <a:rPr lang="en-US" sz="1600" b="1" cap="none" dirty="0"/>
              <a:t>Dashboard</a:t>
            </a:r>
            <a:r>
              <a:rPr lang="en-US" sz="1600" cap="none" dirty="0"/>
              <a:t> </a:t>
            </a:r>
            <a:br>
              <a:rPr lang="en-US" sz="1600" cap="none" dirty="0"/>
            </a:br>
            <a:r>
              <a:rPr lang="en-US" sz="1600" cap="none" dirty="0"/>
              <a:t>view overall system status including vehicles, traffic conditions, and risk zones in one place.</a:t>
            </a:r>
          </a:p>
          <a:p>
            <a:r>
              <a:rPr lang="en-US" sz="1600" b="1" cap="none" dirty="0"/>
              <a:t>Manage &amp; Create users</a:t>
            </a:r>
            <a:r>
              <a:rPr lang="en-US" sz="1600" cap="none" dirty="0"/>
              <a:t> </a:t>
            </a:r>
            <a:br>
              <a:rPr lang="en-US" sz="1600" cap="none" dirty="0"/>
            </a:br>
            <a:r>
              <a:rPr lang="en-US" sz="1600" cap="none" dirty="0"/>
              <a:t>create and manage admins and managers, assign roles, and control system access.</a:t>
            </a:r>
          </a:p>
          <a:p>
            <a:r>
              <a:rPr lang="en-US" sz="1600" b="1" cap="none" dirty="0"/>
              <a:t>Manage drivers</a:t>
            </a:r>
            <a:r>
              <a:rPr lang="en-US" sz="1600" cap="none" dirty="0"/>
              <a:t> </a:t>
            </a:r>
            <a:br>
              <a:rPr lang="en-US" sz="1600" cap="none" dirty="0"/>
            </a:br>
            <a:r>
              <a:rPr lang="en-US" sz="1600" cap="none" dirty="0"/>
              <a:t>add, update, view, and archive driver details such as license, contact, and experience.</a:t>
            </a:r>
          </a:p>
          <a:p>
            <a:r>
              <a:rPr lang="en-US" sz="1600" b="1" cap="none" dirty="0"/>
              <a:t>Manage vehicles</a:t>
            </a:r>
            <a:r>
              <a:rPr lang="en-US" sz="1600" cap="none" dirty="0"/>
              <a:t> </a:t>
            </a:r>
            <a:br>
              <a:rPr lang="en-US" sz="1600" cap="none" dirty="0"/>
            </a:br>
            <a:r>
              <a:rPr lang="en-US" sz="1600" cap="none" dirty="0"/>
              <a:t>add, edit, delete, and monitor vehicles, including their status and assignment.</a:t>
            </a:r>
          </a:p>
          <a:p>
            <a:r>
              <a:rPr lang="en-US" sz="1600" b="1" cap="none" dirty="0"/>
              <a:t>Alerts</a:t>
            </a:r>
            <a:r>
              <a:rPr lang="en-US" sz="1600" cap="none" dirty="0"/>
              <a:t> </a:t>
            </a:r>
            <a:br>
              <a:rPr lang="en-US" sz="1600" cap="none" dirty="0"/>
            </a:br>
            <a:r>
              <a:rPr lang="en-US" sz="1600" cap="none" dirty="0"/>
              <a:t>create new alerts, view all system alerts, and resolve traffic or risk-related issues.</a:t>
            </a:r>
          </a:p>
          <a:p>
            <a:r>
              <a:rPr lang="en-US" sz="1600" b="1" cap="none" dirty="0"/>
              <a:t>Ai tools</a:t>
            </a:r>
            <a:r>
              <a:rPr lang="en-US" sz="1600" cap="none" dirty="0"/>
              <a:t> </a:t>
            </a:r>
            <a:br>
              <a:rPr lang="en-US" sz="1600" cap="none" dirty="0"/>
            </a:br>
            <a:r>
              <a:rPr lang="en-US" sz="1600" cap="none" dirty="0"/>
              <a:t>use ai-based features such as route suggestions and traffic analysis support tools.</a:t>
            </a:r>
          </a:p>
          <a:p>
            <a:r>
              <a:rPr lang="en-US" sz="1600" b="1" cap="none" dirty="0"/>
              <a:t>Ai analytics</a:t>
            </a:r>
            <a:r>
              <a:rPr lang="en-US" sz="1600" cap="none" dirty="0"/>
              <a:t> </a:t>
            </a:r>
            <a:br>
              <a:rPr lang="en-US" sz="1600" cap="none" dirty="0"/>
            </a:br>
            <a:r>
              <a:rPr lang="en-US" sz="1600" cap="none" dirty="0"/>
              <a:t>monitor traffic risk levels, congestion patterns, and analytics data using charts and visual indicators.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FE245A-D7BF-5980-A663-33B87204B6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8/03/20XX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01E334-7578-CC66-A01A-2C1A0ED5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F456B5A-5CAB-38A5-97CF-C5D9798163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590" r="3590"/>
          <a:stretch>
            <a:fillRect/>
          </a:stretch>
        </p:blipFill>
        <p:spPr>
          <a:xfrm>
            <a:off x="0" y="0"/>
            <a:ext cx="3051110" cy="6858000"/>
          </a:xfrm>
        </p:spPr>
      </p:pic>
    </p:spTree>
    <p:extLst>
      <p:ext uri="{BB962C8B-B14F-4D97-AF65-F5344CB8AC3E}">
        <p14:creationId xmlns:p14="http://schemas.microsoft.com/office/powerpoint/2010/main" val="919317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F46CF-C098-0F1D-3E64-482749426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DE78D5A-1DA6-5098-7EE1-2B9C1F896F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7616" y="942023"/>
            <a:ext cx="6163612" cy="753330"/>
          </a:xfrm>
        </p:spPr>
        <p:txBody>
          <a:bodyPr/>
          <a:lstStyle/>
          <a:p>
            <a:r>
              <a:rPr lang="en-IN" dirty="0">
                <a:latin typeface="Aptos Display" panose="020B0004020202020204" pitchFamily="34" charset="0"/>
              </a:rPr>
              <a:t> 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5C7A2BB-00BC-3A60-27E5-8A1D912785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84377" y="394089"/>
            <a:ext cx="7696198" cy="6174662"/>
          </a:xfrm>
        </p:spPr>
        <p:txBody>
          <a:bodyPr/>
          <a:lstStyle/>
          <a:p>
            <a:r>
              <a:rPr lang="en-IN" sz="2000" b="1" u="sng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MANAGER ROLE</a:t>
            </a:r>
          </a:p>
          <a:p>
            <a:endParaRPr lang="en-IN" sz="2000" b="1" u="sng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0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</a:t>
            </a:r>
            <a:r>
              <a:rPr lang="en-IN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view traffic status, fleet overview, and risk zones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Traffic management</a:t>
            </a:r>
            <a:r>
              <a:rPr lang="en-IN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add and update traffic data for different locations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zone monitoring</a:t>
            </a:r>
            <a:r>
              <a:rPr lang="en-IN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identify low, medium, high, and critical risk areas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Fleet overview</a:t>
            </a:r>
            <a:r>
              <a:rPr lang="en-IN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monitor active, idle, and stuck vehicles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 explorer </a:t>
            </a:r>
            <a:r>
              <a:rPr lang="en-IN" sz="18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view different possible routes between source and destination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 safety </a:t>
            </a:r>
            <a:r>
              <a:rPr lang="en-US" sz="18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analyze safety level of routes before assigning trips</a:t>
            </a:r>
          </a:p>
          <a:p>
            <a:endParaRPr lang="en-IN" sz="2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447544-B210-5F7E-FC86-64B035A7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8/03/20XX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1D1343-40DC-8535-8C9B-EA3AF3AB3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041B2E2-2BCF-AF2C-00A8-73346E2EED0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1419" b="11419"/>
          <a:stretch>
            <a:fillRect/>
          </a:stretch>
        </p:blipFill>
        <p:spPr>
          <a:xfrm>
            <a:off x="0" y="0"/>
            <a:ext cx="2901820" cy="6858000"/>
          </a:xfrm>
        </p:spPr>
      </p:pic>
    </p:spTree>
    <p:extLst>
      <p:ext uri="{BB962C8B-B14F-4D97-AF65-F5344CB8AC3E}">
        <p14:creationId xmlns:p14="http://schemas.microsoft.com/office/powerpoint/2010/main" val="2855565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ACACB-B36C-687A-6B85-C01AA5C41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B98EE85-6E63-80C9-3E78-105D812A4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7616" y="942023"/>
            <a:ext cx="6163612" cy="753330"/>
          </a:xfrm>
        </p:spPr>
        <p:txBody>
          <a:bodyPr/>
          <a:lstStyle/>
          <a:p>
            <a:r>
              <a:rPr lang="en-IN" dirty="0">
                <a:latin typeface="Aptos Display" panose="020B0004020202020204" pitchFamily="34" charset="0"/>
              </a:rPr>
              <a:t> 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57A0688-041F-DE20-79F1-5696B5B753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64498" y="257564"/>
            <a:ext cx="8489301" cy="5962261"/>
          </a:xfrm>
        </p:spPr>
        <p:txBody>
          <a:bodyPr/>
          <a:lstStyle/>
          <a:p>
            <a:r>
              <a:rPr lang="en-US" sz="2000" b="1" u="sng" dirty="0"/>
              <a:t>DRIVER ROLE</a:t>
            </a:r>
          </a:p>
          <a:p>
            <a:endParaRPr lang="en-US" sz="2000" b="1" dirty="0"/>
          </a:p>
          <a:p>
            <a:r>
              <a:rPr lang="en-US" sz="1800" b="1" cap="none" dirty="0"/>
              <a:t>Dashboard</a:t>
            </a:r>
            <a:r>
              <a:rPr lang="en-US" sz="1800" cap="none" dirty="0"/>
              <a:t> – view overall trip information, traffic status, and quick updates</a:t>
            </a:r>
          </a:p>
          <a:p>
            <a:r>
              <a:rPr lang="en-US" sz="1800" b="1" cap="none" dirty="0"/>
              <a:t>Traffic analysis</a:t>
            </a:r>
            <a:r>
              <a:rPr lang="en-US" sz="1800" cap="none" dirty="0"/>
              <a:t> – view current traffic conditions and congestion levels</a:t>
            </a:r>
          </a:p>
          <a:p>
            <a:r>
              <a:rPr lang="en-US" sz="1800" b="1" cap="none" dirty="0"/>
              <a:t>Vehicle status</a:t>
            </a:r>
            <a:r>
              <a:rPr lang="en-US" sz="1800" cap="none" dirty="0"/>
              <a:t> – check assigned vehicle health and status details</a:t>
            </a:r>
          </a:p>
          <a:p>
            <a:r>
              <a:rPr lang="en-US" sz="1800" b="1" cap="none" dirty="0"/>
              <a:t>My alerts</a:t>
            </a:r>
            <a:r>
              <a:rPr lang="en-US" sz="1800" cap="none" dirty="0"/>
              <a:t> – receive and view traffic, safety, and risk alerts</a:t>
            </a:r>
          </a:p>
          <a:p>
            <a:r>
              <a:rPr lang="en-US" sz="1800" b="1" cap="none" dirty="0"/>
              <a:t>Driver check-in</a:t>
            </a:r>
            <a:r>
              <a:rPr lang="en-US" sz="1800" cap="none" dirty="0"/>
              <a:t> – manually update current location during trips</a:t>
            </a:r>
          </a:p>
          <a:p>
            <a:r>
              <a:rPr lang="en-US" sz="1800" b="1" cap="none" dirty="0"/>
              <a:t>Create trip</a:t>
            </a:r>
            <a:r>
              <a:rPr lang="en-US" sz="1800" cap="none" dirty="0"/>
              <a:t> – create a new trip with source and destination details</a:t>
            </a:r>
          </a:p>
          <a:p>
            <a:r>
              <a:rPr lang="en-US" sz="1800" b="1" cap="none" dirty="0"/>
              <a:t>Trip summary</a:t>
            </a:r>
            <a:r>
              <a:rPr lang="en-US" sz="1800" cap="none" dirty="0"/>
              <a:t> – view completed trip details including route, duration, and status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9D3D23-7304-9EE2-7443-7023C330E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FA39318C-326B-CDB3-8729-8220A3BA810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870" b="1870"/>
          <a:stretch>
            <a:fillRect/>
          </a:stretch>
        </p:blipFill>
        <p:spPr>
          <a:xfrm>
            <a:off x="0" y="0"/>
            <a:ext cx="2649894" cy="6858000"/>
          </a:xfrm>
        </p:spPr>
      </p:pic>
    </p:spTree>
    <p:extLst>
      <p:ext uri="{BB962C8B-B14F-4D97-AF65-F5344CB8AC3E}">
        <p14:creationId xmlns:p14="http://schemas.microsoft.com/office/powerpoint/2010/main" val="1292456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932D7-5A8B-2A64-33E2-AFBC1E16C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Placeholder 274">
            <a:extLst>
              <a:ext uri="{FF2B5EF4-FFF2-40B4-BE49-F238E27FC236}">
                <a16:creationId xmlns:a16="http://schemas.microsoft.com/office/drawing/2014/main" id="{E72EF6B2-A662-001C-AFBD-0472E7A62C4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433153" y="403902"/>
            <a:ext cx="5870121" cy="568896"/>
          </a:xfrm>
        </p:spPr>
        <p:txBody>
          <a:bodyPr/>
          <a:lstStyle/>
          <a:p>
            <a:r>
              <a:rPr lang="en-IN" sz="2800" dirty="0">
                <a:latin typeface="Aptos Display" panose="020B0004020202020204" pitchFamily="34" charset="0"/>
              </a:rPr>
              <a:t>CONCLUSION</a:t>
            </a:r>
            <a:endParaRPr lang="en-US" sz="2800" dirty="0"/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06D5F255-FFE8-9AE1-3DF7-E651ACC3E52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3643" y="2197251"/>
            <a:ext cx="10504714" cy="3046552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 fleet x is a smart fleet and traffic management system designed for </a:t>
            </a:r>
            <a:r>
              <a:rPr lang="en-US" sz="20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admin, manager, and driver</a:t>
            </a: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roles.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helps monitor vehicles, traffic conditions, risk zones, and alerts in real time.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basic ai-assisted features like congestion analysis, risk detection, and route suggestions, the system improves traffic awareness and decision-making.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the project provides a strong base for building more advanced intelligent traffic solutions in the future.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000" cap="none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1FF00-1FD5-9059-33DF-D6D3EC0B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45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CB33A-357E-368C-13E8-53154630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AB6F2052-7530-A1A3-18D2-2BE94C550F8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817845" y="2761862"/>
            <a:ext cx="6223517" cy="1660848"/>
          </a:xfrm>
        </p:spPr>
        <p:txBody>
          <a:bodyPr/>
          <a:lstStyle/>
          <a:p>
            <a:pPr algn="l"/>
            <a:r>
              <a:rPr lang="en-US" sz="6000" cap="none" dirty="0">
                <a:solidFill>
                  <a:schemeClr val="bg1"/>
                </a:solidFill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THANK YOU.....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1C211-21F7-A779-76F9-673033D45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349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1">
      <a:dk1>
        <a:sysClr val="windowText" lastClr="000000"/>
      </a:dk1>
      <a:lt1>
        <a:sysClr val="window" lastClr="FFFFFF"/>
      </a:lt1>
      <a:dk2>
        <a:srgbClr val="E3C375"/>
      </a:dk2>
      <a:lt2>
        <a:srgbClr val="E7E6E6"/>
      </a:lt2>
      <a:accent1>
        <a:srgbClr val="485441"/>
      </a:accent1>
      <a:accent2>
        <a:srgbClr val="EBFFE4"/>
      </a:accent2>
      <a:accent3>
        <a:srgbClr val="AAC59E"/>
      </a:accent3>
      <a:accent4>
        <a:srgbClr val="7C4B79"/>
      </a:accent4>
      <a:accent5>
        <a:srgbClr val="C59EC3"/>
      </a:accent5>
      <a:accent6>
        <a:srgbClr val="302030"/>
      </a:accent6>
      <a:hlink>
        <a:srgbClr val="0563C1"/>
      </a:hlink>
      <a:folHlink>
        <a:srgbClr val="954F72"/>
      </a:folHlink>
    </a:clrScheme>
    <a:fontScheme name="Custom 74">
      <a:majorFont>
        <a:latin typeface="Avenir Next LT Pro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staurant Pitch Deck_TM16411246_Win32_JC_v4.potx" id="{579F7F05-5F3A-44F6-BAD8-A9CB3AB382EA}" vid="{1F780C43-0257-417B-AF27-9B769DABFA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09A09C-A249-4D30-8888-26F183AD87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16BC72-0158-4AB8-9F35-F365C88D29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CF18AE-D61A-46A3-9130-AB96E808872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Restaurant pitch deck</Template>
  <TotalTime>217</TotalTime>
  <Words>682</Words>
  <Application>Microsoft Office PowerPoint</Application>
  <PresentationFormat>Widescreen</PresentationFormat>
  <Paragraphs>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Algerian</vt:lpstr>
      <vt:lpstr>Aptos</vt:lpstr>
      <vt:lpstr>Aptos Display</vt:lpstr>
      <vt:lpstr>Arial</vt:lpstr>
      <vt:lpstr>Avenir Next LT Pro</vt:lpstr>
      <vt:lpstr>Calibri</vt:lpstr>
      <vt:lpstr>Courier New</vt:lpstr>
      <vt:lpstr>Kunstler Script</vt:lpstr>
      <vt:lpstr>Wingdings</vt:lpstr>
      <vt:lpstr>Office Theme</vt:lpstr>
      <vt:lpstr>Neuro Fleet X – AI Powered Urban Fleet &amp; Traffic Intelligence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 </vt:lpstr>
      <vt:lpstr>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Narmadha Loganathan</dc:creator>
  <cp:lastModifiedBy>Narmadha Loganathan</cp:lastModifiedBy>
  <cp:revision>7</cp:revision>
  <dcterms:created xsi:type="dcterms:W3CDTF">2025-12-31T15:31:24Z</dcterms:created>
  <dcterms:modified xsi:type="dcterms:W3CDTF">2026-01-05T13:51:57Z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