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/>
  <p:notesSz cx="8229600" cy="14630400"/>
  <p:embeddedFontLst>
    <p:embeddedFont>
      <p:font typeface="Source Sans 3" panose="020B0604020202020204" charset="0"/>
      <p:regular r:id="rId21"/>
    </p:embeddedFont>
    <p:embeddedFont>
      <p:font typeface="Source Serif 4 Semi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293" y="-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35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42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02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70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10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27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21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09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53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02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B238-6216-7D38-ABDC-F5430788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25E10-7E2F-34F8-DFD9-C6D69809F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FA034-4501-916C-3E01-7288821DC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4923A-4CCB-E879-CFDB-5D29F2182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8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07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73617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NeuroFleetX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35918"/>
            <a:ext cx="1154406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AI-Powered Urban Fleet &amp; Traffic Intelligence System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37724" y="445817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Role: 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Driver Module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11040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Presenting by: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Dinesh Kumar</a:t>
            </a:r>
            <a:endParaRPr lang="en-US" sz="1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729854-CB01-0228-E637-9914A43369D9}"/>
              </a:ext>
            </a:extLst>
          </p:cNvPr>
          <p:cNvSpPr/>
          <p:nvPr/>
        </p:nvSpPr>
        <p:spPr>
          <a:xfrm>
            <a:off x="12853555" y="7741227"/>
            <a:ext cx="1693718" cy="3830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6134" y="599480"/>
            <a:ext cx="5228153" cy="61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Abstract: NeuroFleetX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216134" y="1525429"/>
            <a:ext cx="7684532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NeuroFleetX: intelligent fleet and traffic management for urban efficiency.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16134" y="2093476"/>
            <a:ext cx="7684532" cy="1227773"/>
          </a:xfrm>
          <a:prstGeom prst="roundRect">
            <a:avLst>
              <a:gd name="adj" fmla="val 89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93274" y="2093476"/>
            <a:ext cx="91440" cy="1227773"/>
          </a:xfrm>
          <a:prstGeom prst="roundRect">
            <a:avLst>
              <a:gd name="adj" fmla="val 95771"/>
            </a:avLst>
          </a:prstGeom>
          <a:solidFill>
            <a:srgbClr val="BE49DF"/>
          </a:solidFill>
          <a:ln/>
        </p:spPr>
      </p:sp>
      <p:sp>
        <p:nvSpPr>
          <p:cNvPr id="7" name="Text 4"/>
          <p:cNvSpPr/>
          <p:nvPr/>
        </p:nvSpPr>
        <p:spPr>
          <a:xfrm>
            <a:off x="6516053" y="2324814"/>
            <a:ext cx="3446859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Comprehensive Management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16053" y="2756416"/>
            <a:ext cx="7153275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Manages drivers, vehicles, and trips.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6134" y="3529727"/>
            <a:ext cx="7684532" cy="1227773"/>
          </a:xfrm>
          <a:prstGeom prst="roundRect">
            <a:avLst>
              <a:gd name="adj" fmla="val 89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93274" y="3529727"/>
            <a:ext cx="91440" cy="1227773"/>
          </a:xfrm>
          <a:prstGeom prst="roundRect">
            <a:avLst>
              <a:gd name="adj" fmla="val 95771"/>
            </a:avLst>
          </a:prstGeom>
          <a:solidFill>
            <a:srgbClr val="BE49DF"/>
          </a:solidFill>
          <a:ln/>
        </p:spPr>
      </p:sp>
      <p:sp>
        <p:nvSpPr>
          <p:cNvPr id="11" name="Text 8"/>
          <p:cNvSpPr/>
          <p:nvPr/>
        </p:nvSpPr>
        <p:spPr>
          <a:xfrm>
            <a:off x="6516053" y="3761065"/>
            <a:ext cx="2452926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&amp; Scalable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16053" y="4192667"/>
            <a:ext cx="7153275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Robust backend architecture.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6134" y="4965978"/>
            <a:ext cx="7684532" cy="1227773"/>
          </a:xfrm>
          <a:prstGeom prst="roundRect">
            <a:avLst>
              <a:gd name="adj" fmla="val 89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3274" y="4965978"/>
            <a:ext cx="91440" cy="1227773"/>
          </a:xfrm>
          <a:prstGeom prst="roundRect">
            <a:avLst>
              <a:gd name="adj" fmla="val 95771"/>
            </a:avLst>
          </a:prstGeom>
          <a:solidFill>
            <a:srgbClr val="BE49DF"/>
          </a:solidFill>
          <a:ln/>
        </p:spPr>
      </p:sp>
      <p:sp>
        <p:nvSpPr>
          <p:cNvPr id="15" name="Text 12"/>
          <p:cNvSpPr/>
          <p:nvPr/>
        </p:nvSpPr>
        <p:spPr>
          <a:xfrm>
            <a:off x="6516053" y="5197316"/>
            <a:ext cx="2452926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Real-time Insights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516053" y="5628918"/>
            <a:ext cx="7153275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operational data and role-based access.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3274" y="6451282"/>
            <a:ext cx="7684532" cy="1227773"/>
          </a:xfrm>
          <a:prstGeom prst="roundRect">
            <a:avLst>
              <a:gd name="adj" fmla="val 89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3274" y="6402229"/>
            <a:ext cx="91440" cy="1227773"/>
          </a:xfrm>
          <a:prstGeom prst="roundRect">
            <a:avLst>
              <a:gd name="adj" fmla="val 95771"/>
            </a:avLst>
          </a:prstGeom>
          <a:solidFill>
            <a:srgbClr val="BE49DF"/>
          </a:solidFill>
          <a:ln/>
        </p:spPr>
      </p:sp>
      <p:sp>
        <p:nvSpPr>
          <p:cNvPr id="19" name="Text 16"/>
          <p:cNvSpPr/>
          <p:nvPr/>
        </p:nvSpPr>
        <p:spPr>
          <a:xfrm>
            <a:off x="6516053" y="6633567"/>
            <a:ext cx="2452926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Future-Proof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516053" y="7065169"/>
            <a:ext cx="7153275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for reliability, security, and AI integration.</a:t>
            </a:r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67D567-55DF-404E-9A6F-D34A600ECF9D}"/>
              </a:ext>
            </a:extLst>
          </p:cNvPr>
          <p:cNvSpPr/>
          <p:nvPr/>
        </p:nvSpPr>
        <p:spPr>
          <a:xfrm>
            <a:off x="12749645" y="7769839"/>
            <a:ext cx="1745673" cy="3334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402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259" y="3222427"/>
            <a:ext cx="13151882" cy="124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Introduction: Bridging the Gap in Urban Fleet Operations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59" y="4781550"/>
            <a:ext cx="4383881" cy="8448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0476" y="5837634"/>
            <a:ext cx="248483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Current Challenges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950476" y="6274832"/>
            <a:ext cx="396144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Poor monitoring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50476" y="6686550"/>
            <a:ext cx="396144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tracking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50476" y="7098268"/>
            <a:ext cx="396144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risks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140" y="4781550"/>
            <a:ext cx="4384000" cy="8448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357" y="5837634"/>
            <a:ext cx="248483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Traditional Systems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5334357" y="6274832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automation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5334357" y="6686550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real-time intelligence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7141" y="4781550"/>
            <a:ext cx="4384000" cy="8448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18358" y="5837634"/>
            <a:ext cx="256270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NeuroFleetX Solution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9718358" y="6274832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digital platform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9718358" y="6686550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Effective fleet management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9718358" y="7098268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Modern web technologies</a:t>
            </a:r>
            <a:endParaRPr lang="en-US" sz="16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9C926-F232-3653-9591-E33A90FBB53F}"/>
              </a:ext>
            </a:extLst>
          </p:cNvPr>
          <p:cNvSpPr/>
          <p:nvPr/>
        </p:nvSpPr>
        <p:spPr>
          <a:xfrm>
            <a:off x="12843164" y="7782791"/>
            <a:ext cx="1641763" cy="3378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553" y="635318"/>
            <a:ext cx="7526893" cy="135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The Problem: Manual Fleet Management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808553" y="2340769"/>
            <a:ext cx="7526893" cy="5254466"/>
          </a:xfrm>
          <a:prstGeom prst="roundRect">
            <a:avLst>
              <a:gd name="adj" fmla="val 184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6173" y="2348389"/>
            <a:ext cx="7511653" cy="1309807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1047155" y="2579370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Inefficiency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7155" y="3057644"/>
            <a:ext cx="704969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processes are error-prone and slow.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16173" y="3658195"/>
            <a:ext cx="7511653" cy="1309807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9" name="Shape 6"/>
          <p:cNvSpPr/>
          <p:nvPr/>
        </p:nvSpPr>
        <p:spPr>
          <a:xfrm>
            <a:off x="816173" y="3658195"/>
            <a:ext cx="7511653" cy="30480"/>
          </a:xfrm>
          <a:prstGeom prst="roundRect">
            <a:avLst>
              <a:gd name="adj" fmla="val 318360"/>
            </a:avLst>
          </a:prstGeom>
          <a:solidFill>
            <a:srgbClr val="D6BADD"/>
          </a:solidFill>
          <a:ln/>
        </p:spPr>
      </p:sp>
      <p:sp>
        <p:nvSpPr>
          <p:cNvPr id="10" name="Text 7"/>
          <p:cNvSpPr/>
          <p:nvPr/>
        </p:nvSpPr>
        <p:spPr>
          <a:xfrm>
            <a:off x="1047155" y="3889177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No Centralization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47155" y="4367451"/>
            <a:ext cx="704969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of unified driver and vehicle monitoring.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16173" y="4968002"/>
            <a:ext cx="7511653" cy="1309807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13" name="Shape 10"/>
          <p:cNvSpPr/>
          <p:nvPr/>
        </p:nvSpPr>
        <p:spPr>
          <a:xfrm>
            <a:off x="816173" y="4968002"/>
            <a:ext cx="7511653" cy="30480"/>
          </a:xfrm>
          <a:prstGeom prst="roundRect">
            <a:avLst>
              <a:gd name="adj" fmla="val 318360"/>
            </a:avLst>
          </a:prstGeom>
          <a:solidFill>
            <a:srgbClr val="D6BADD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155" y="5198983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Security Flaws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47155" y="5677257"/>
            <a:ext cx="704969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Weak authentication mechanisms lead to risks.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16173" y="6277808"/>
            <a:ext cx="7511653" cy="1309807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816173" y="6277808"/>
            <a:ext cx="7511653" cy="30480"/>
          </a:xfrm>
          <a:prstGeom prst="roundRect">
            <a:avLst>
              <a:gd name="adj" fmla="val 318360"/>
            </a:avLst>
          </a:prstGeom>
          <a:solidFill>
            <a:srgbClr val="D6BADD"/>
          </a:solidFill>
          <a:ln/>
        </p:spPr>
      </p:sp>
      <p:sp>
        <p:nvSpPr>
          <p:cNvPr id="18" name="Text 15"/>
          <p:cNvSpPr/>
          <p:nvPr/>
        </p:nvSpPr>
        <p:spPr>
          <a:xfrm>
            <a:off x="1047155" y="6508790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Limited Scalability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047155" y="6987064"/>
            <a:ext cx="704969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systems cannot grow with demand.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9978" y="612815"/>
            <a:ext cx="5243989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Objectives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79978" y="1602462"/>
            <a:ext cx="891421" cy="1337191"/>
          </a:xfrm>
          <a:prstGeom prst="roundRect">
            <a:avLst>
              <a:gd name="adj" fmla="val 3600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585" y="2103953"/>
            <a:ext cx="334208" cy="3342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94165" y="1825228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&amp; Scalable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894165" y="2286595"/>
            <a:ext cx="646985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a robust fleet management system.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79978" y="3162419"/>
            <a:ext cx="891421" cy="1337191"/>
          </a:xfrm>
          <a:prstGeom prst="roundRect">
            <a:avLst>
              <a:gd name="adj" fmla="val 3600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8585" y="3663910"/>
            <a:ext cx="334208" cy="3342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94165" y="3385185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Role-Based Access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1894165" y="3846552"/>
            <a:ext cx="646985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authentication and authorization.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79978" y="4722376"/>
            <a:ext cx="891421" cy="1337191"/>
          </a:xfrm>
          <a:prstGeom prst="roundRect">
            <a:avLst>
              <a:gd name="adj" fmla="val 3600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585" y="5223867"/>
            <a:ext cx="334208" cy="3342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94165" y="4945142"/>
            <a:ext cx="2795111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Efficient Management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894165" y="5406509"/>
            <a:ext cx="646985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drivers, vehicles, and trips effectively.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79978" y="6282333"/>
            <a:ext cx="891421" cy="1337191"/>
          </a:xfrm>
          <a:prstGeom prst="roundRect">
            <a:avLst>
              <a:gd name="adj" fmla="val 3600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8585" y="6783824"/>
            <a:ext cx="334208" cy="3342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894165" y="6505099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Reliable APIs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1894165" y="6966466"/>
            <a:ext cx="646985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stable REST APIs for frontend integration.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65996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Scope of the Project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9622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Current Focus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553539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development with Spring Boot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40328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module design and implementation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25303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Integration with vehicle and trip management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6102787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 support for frontend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871561" y="29622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 Expansion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71561" y="3553539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integration for predictive analytics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871561" y="440328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data analysis and reporting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71561" y="525303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Optimization algorithms for routing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553" y="637103"/>
            <a:ext cx="7526893" cy="135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System Architecture: Three-Tier Model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808553" y="2342555"/>
            <a:ext cx="230981" cy="1386126"/>
          </a:xfrm>
          <a:prstGeom prst="roundRect">
            <a:avLst>
              <a:gd name="adj" fmla="val 4201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0516" y="2573536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Presentation Layer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270516" y="3051810"/>
            <a:ext cx="706493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frontend for user interaction.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155025" y="3959662"/>
            <a:ext cx="230981" cy="1386126"/>
          </a:xfrm>
          <a:prstGeom prst="roundRect">
            <a:avLst>
              <a:gd name="adj" fmla="val 4201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16988" y="4190643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Business Layer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16988" y="4668917"/>
            <a:ext cx="6718459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REST APIs handle logic.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501616" y="5576768"/>
            <a:ext cx="230981" cy="1386126"/>
          </a:xfrm>
          <a:prstGeom prst="roundRect">
            <a:avLst>
              <a:gd name="adj" fmla="val 4201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63579" y="5807750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 Layer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963579" y="6286024"/>
            <a:ext cx="6371868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database for persistent storage.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8553" y="7222808"/>
            <a:ext cx="7526893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architecture ensures scalability, security, and maintainability.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6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674" y="495538"/>
            <a:ext cx="4240173" cy="52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Technology Stack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30674" y="1295757"/>
            <a:ext cx="7882652" cy="2091095"/>
          </a:xfrm>
          <a:prstGeom prst="roundRect">
            <a:avLst>
              <a:gd name="adj" fmla="val 20683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8436" y="1483519"/>
            <a:ext cx="212002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Backend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18436" y="1856661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8436" y="2208014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8436" y="2559368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Security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8436" y="2910721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674" y="3566993"/>
            <a:ext cx="7882652" cy="1388388"/>
          </a:xfrm>
          <a:prstGeom prst="roundRect">
            <a:avLst>
              <a:gd name="adj" fmla="val 3115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436" y="3754755"/>
            <a:ext cx="212002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Frontend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18436" y="4127897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436" y="4479250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Axios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674" y="5135523"/>
            <a:ext cx="7882652" cy="1037034"/>
          </a:xfrm>
          <a:prstGeom prst="roundRect">
            <a:avLst>
              <a:gd name="adj" fmla="val 4170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436" y="5323284"/>
            <a:ext cx="212002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18436" y="5696426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674" y="6352699"/>
            <a:ext cx="7882652" cy="1388388"/>
          </a:xfrm>
          <a:prstGeom prst="roundRect">
            <a:avLst>
              <a:gd name="adj" fmla="val 3115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436" y="6540460"/>
            <a:ext cx="212002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Tools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18436" y="6913602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Postman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8436" y="7264956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Eclipse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137" y="573167"/>
            <a:ext cx="1685687" cy="386120"/>
          </a:xfrm>
          <a:prstGeom prst="roundRect">
            <a:avLst>
              <a:gd name="adj" fmla="val 17882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42367" y="634722"/>
            <a:ext cx="1439228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MODULES OVERVIEW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137" y="1041440"/>
            <a:ext cx="4751665" cy="4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Core 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9137" y="2141220"/>
            <a:ext cx="6493312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9137" y="2118360"/>
            <a:ext cx="6493312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540" y="1833086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8" name="Text 6"/>
          <p:cNvSpPr/>
          <p:nvPr/>
        </p:nvSpPr>
        <p:spPr>
          <a:xfrm>
            <a:off x="3842445" y="1987153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47380" y="2654856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Authentication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47380" y="3080266"/>
            <a:ext cx="60368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user access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17832" y="2141220"/>
            <a:ext cx="6493431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17832" y="2118360"/>
            <a:ext cx="6493431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56354" y="1833086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41258" y="1987153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46075" y="2654856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Admin Module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46075" y="3080266"/>
            <a:ext cx="603694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System-wide control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137" y="4150757"/>
            <a:ext cx="6493312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9137" y="4127897"/>
            <a:ext cx="6493312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540" y="3842623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20" name="Text 18"/>
          <p:cNvSpPr/>
          <p:nvPr/>
        </p:nvSpPr>
        <p:spPr>
          <a:xfrm>
            <a:off x="3842445" y="3996690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47380" y="4664393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Manager Module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47380" y="5089803"/>
            <a:ext cx="60368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Operational oversight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17832" y="4150757"/>
            <a:ext cx="6493431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17832" y="4127897"/>
            <a:ext cx="6493431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56354" y="3842623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26" name="Text 24"/>
          <p:cNvSpPr/>
          <p:nvPr/>
        </p:nvSpPr>
        <p:spPr>
          <a:xfrm>
            <a:off x="10541258" y="3996690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646075" y="4664393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Driver Module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646075" y="5089803"/>
            <a:ext cx="603694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driver operations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9137" y="6160294"/>
            <a:ext cx="6493312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19137" y="6137434"/>
            <a:ext cx="6493312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540" y="5852160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32" name="Text 30"/>
          <p:cNvSpPr/>
          <p:nvPr/>
        </p:nvSpPr>
        <p:spPr>
          <a:xfrm>
            <a:off x="3842445" y="6006227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47380" y="6673929"/>
            <a:ext cx="2426970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Vehicle Management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47380" y="7099340"/>
            <a:ext cx="60368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Fleet asset control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17832" y="6160294"/>
            <a:ext cx="6493431" cy="1496020"/>
          </a:xfrm>
          <a:prstGeom prst="roundRect">
            <a:avLst>
              <a:gd name="adj" fmla="val 7335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36" name="Shape 34"/>
          <p:cNvSpPr/>
          <p:nvPr/>
        </p:nvSpPr>
        <p:spPr>
          <a:xfrm>
            <a:off x="7417832" y="6137434"/>
            <a:ext cx="6493431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56354" y="5852160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38" name="Text 36"/>
          <p:cNvSpPr/>
          <p:nvPr/>
        </p:nvSpPr>
        <p:spPr>
          <a:xfrm>
            <a:off x="10541258" y="6006227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6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7646075" y="6673929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Trip Management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7646075" y="7099340"/>
            <a:ext cx="603694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 &amp; delivery tracking</a:t>
            </a:r>
            <a:endParaRPr lang="en-US" sz="16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21804D-10D5-DFA7-2B0F-B0495011CDCC}"/>
              </a:ext>
            </a:extLst>
          </p:cNvPr>
          <p:cNvSpPr/>
          <p:nvPr/>
        </p:nvSpPr>
        <p:spPr>
          <a:xfrm>
            <a:off x="12811991" y="7779543"/>
            <a:ext cx="1724891" cy="3669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9/18</a:t>
            </a:r>
          </a:p>
        </p:txBody>
      </p:sp>
    </p:spTree>
    <p:extLst>
      <p:ext uri="{BB962C8B-B14F-4D97-AF65-F5344CB8AC3E}">
        <p14:creationId xmlns:p14="http://schemas.microsoft.com/office/powerpoint/2010/main" val="2344621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9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6972" y="421958"/>
            <a:ext cx="1162169" cy="288250"/>
          </a:xfrm>
          <a:prstGeom prst="roundRect">
            <a:avLst>
              <a:gd name="adj" fmla="val 17887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629007" y="467916"/>
            <a:ext cx="978098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 CONTRIBUTION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6972" y="771525"/>
            <a:ext cx="5457825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Full Stack Development: Driver Module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536972" y="1362670"/>
            <a:ext cx="8070056" cy="1498759"/>
          </a:xfrm>
          <a:prstGeom prst="roundRect">
            <a:avLst>
              <a:gd name="adj" fmla="val 43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7944" y="1523643"/>
            <a:ext cx="460296" cy="460296"/>
          </a:xfrm>
          <a:prstGeom prst="roundRect">
            <a:avLst>
              <a:gd name="adj" fmla="val 19863491"/>
            </a:avLst>
          </a:prstGeom>
          <a:solidFill>
            <a:srgbClr val="BE49D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508" y="1650206"/>
            <a:ext cx="207050" cy="207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7944" y="2137291"/>
            <a:ext cx="180522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Backend Logic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7944" y="2454950"/>
            <a:ext cx="774811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implementation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6972" y="3014782"/>
            <a:ext cx="8070056" cy="1498759"/>
          </a:xfrm>
          <a:prstGeom prst="roundRect">
            <a:avLst>
              <a:gd name="adj" fmla="val 43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7944" y="3175754"/>
            <a:ext cx="460296" cy="460296"/>
          </a:xfrm>
          <a:prstGeom prst="roundRect">
            <a:avLst>
              <a:gd name="adj" fmla="val 19863491"/>
            </a:avLst>
          </a:prstGeom>
          <a:solidFill>
            <a:srgbClr val="BE49D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508" y="3302318"/>
            <a:ext cx="207050" cy="207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7944" y="3789402"/>
            <a:ext cx="180522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REST APIs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97944" y="4107061"/>
            <a:ext cx="774811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operations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36972" y="4666893"/>
            <a:ext cx="8070056" cy="1498759"/>
          </a:xfrm>
          <a:prstGeom prst="roundRect">
            <a:avLst>
              <a:gd name="adj" fmla="val 43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97944" y="4827865"/>
            <a:ext cx="460296" cy="460296"/>
          </a:xfrm>
          <a:prstGeom prst="roundRect">
            <a:avLst>
              <a:gd name="adj" fmla="val 19863491"/>
            </a:avLst>
          </a:prstGeom>
          <a:solidFill>
            <a:srgbClr val="BE49D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508" y="4954429"/>
            <a:ext cx="207050" cy="2070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7944" y="5441513"/>
            <a:ext cx="180522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97944" y="5759172"/>
            <a:ext cx="774811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features &amp; UI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36972" y="6319004"/>
            <a:ext cx="8070056" cy="1498759"/>
          </a:xfrm>
          <a:prstGeom prst="roundRect">
            <a:avLst>
              <a:gd name="adj" fmla="val 43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97944" y="6479977"/>
            <a:ext cx="460296" cy="460296"/>
          </a:xfrm>
          <a:prstGeom prst="roundRect">
            <a:avLst>
              <a:gd name="adj" fmla="val 19863491"/>
            </a:avLst>
          </a:prstGeom>
          <a:solidFill>
            <a:srgbClr val="BE49D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508" y="6606540"/>
            <a:ext cx="207050" cy="2070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7944" y="7093625"/>
            <a:ext cx="1828681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Seamless Integration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97944" y="7411283"/>
            <a:ext cx="774811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API connections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260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013" y="529471"/>
            <a:ext cx="1296710" cy="361950"/>
          </a:xfrm>
          <a:prstGeom prst="roundRect">
            <a:avLst>
              <a:gd name="adj" fmla="val 17877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89503" y="587216"/>
            <a:ext cx="106572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4013" y="968335"/>
            <a:ext cx="6302335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Comprehensive Driver Management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4013" y="1883569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driver linked to user account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4013" y="2258973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Vehicles assigned by Admin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4013" y="2634377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Drivers associated with multiple trips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4013" y="3009781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Secure, role-based access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013" y="3385185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frontend-backend communication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839" y="1823323"/>
            <a:ext cx="6406277" cy="64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9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428" y="595908"/>
            <a:ext cx="1460063" cy="407313"/>
          </a:xfrm>
          <a:prstGeom prst="roundRect">
            <a:avLst>
              <a:gd name="adj" fmla="val 17877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88444" y="660916"/>
            <a:ext cx="120003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MODULE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428" y="1089898"/>
            <a:ext cx="6565106" cy="509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Functionalities Implemented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1931372"/>
            <a:ext cx="325041" cy="3250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2683" y="1924764"/>
            <a:ext cx="2662357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Registration &amp; Profile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2683" y="2373392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frontend &amp; backend support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3160097"/>
            <a:ext cx="325041" cy="3250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2683" y="3153489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Vehicle Assignment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462683" y="3602117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Driver-vehicle mapping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4388822"/>
            <a:ext cx="325041" cy="3250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2683" y="4382214"/>
            <a:ext cx="2788206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Display Vehicle Details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462683" y="4830842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integration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5617547"/>
            <a:ext cx="325041" cy="32504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2683" y="5610939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Trip Management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462683" y="6059567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Creation, association, tracking</a:t>
            </a:r>
            <a:endParaRPr lang="en-US" sz="17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6846272"/>
            <a:ext cx="325041" cy="32504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2683" y="6839664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API Access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1462683" y="7288292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token utilization</a:t>
            </a:r>
            <a:endParaRPr lang="en-US" sz="1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E992C0-6CE8-B1EA-0680-9E244754D5AB}"/>
              </a:ext>
            </a:extLst>
          </p:cNvPr>
          <p:cNvSpPr/>
          <p:nvPr/>
        </p:nvSpPr>
        <p:spPr>
          <a:xfrm>
            <a:off x="12832773" y="7765019"/>
            <a:ext cx="1672936" cy="3191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12/18</a:t>
            </a:r>
          </a:p>
        </p:txBody>
      </p:sp>
    </p:spTree>
    <p:extLst>
      <p:ext uri="{BB962C8B-B14F-4D97-AF65-F5344CB8AC3E}">
        <p14:creationId xmlns:p14="http://schemas.microsoft.com/office/powerpoint/2010/main" val="416769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475542"/>
            <a:ext cx="1070848" cy="449818"/>
          </a:xfrm>
          <a:prstGeom prst="roundRect">
            <a:avLst>
              <a:gd name="adj" fmla="val 17881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547336"/>
            <a:ext cx="78366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021086"/>
            <a:ext cx="561689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Robust Security Measures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837724" y="2943344"/>
            <a:ext cx="4158734" cy="2153126"/>
          </a:xfrm>
          <a:prstGeom prst="roundRect">
            <a:avLst>
              <a:gd name="adj" fmla="val 67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7244" y="2943344"/>
            <a:ext cx="121920" cy="2153126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7" name="Text 5"/>
          <p:cNvSpPr/>
          <p:nvPr/>
        </p:nvSpPr>
        <p:spPr>
          <a:xfrm>
            <a:off x="1198959" y="3213140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JWT-based Authentication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98959" y="4060627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&amp; backend communication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2943344"/>
            <a:ext cx="4158734" cy="2153126"/>
          </a:xfrm>
          <a:prstGeom prst="roundRect">
            <a:avLst>
              <a:gd name="adj" fmla="val 67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5293" y="2943344"/>
            <a:ext cx="121920" cy="2153126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1" name="Text 9"/>
          <p:cNvSpPr/>
          <p:nvPr/>
        </p:nvSpPr>
        <p:spPr>
          <a:xfrm>
            <a:off x="5597009" y="3213140"/>
            <a:ext cx="345983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Role-based Authorization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97009" y="3708678"/>
            <a:ext cx="35277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Admin, Manager, Driver roles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33823" y="2943344"/>
            <a:ext cx="4158853" cy="2153126"/>
          </a:xfrm>
          <a:prstGeom prst="roundRect">
            <a:avLst>
              <a:gd name="adj" fmla="val 67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3343" y="2943344"/>
            <a:ext cx="121920" cy="2153126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5" name="Text 13"/>
          <p:cNvSpPr/>
          <p:nvPr/>
        </p:nvSpPr>
        <p:spPr>
          <a:xfrm>
            <a:off x="9995059" y="3213140"/>
            <a:ext cx="35278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BCrypt Password Encryption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95059" y="4060627"/>
            <a:ext cx="35278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data protection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37724" y="5335786"/>
            <a:ext cx="4158734" cy="1418153"/>
          </a:xfrm>
          <a:prstGeom prst="roundRect">
            <a:avLst>
              <a:gd name="adj" fmla="val 1031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244" y="5335786"/>
            <a:ext cx="121920" cy="1418153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9" name="Text 17"/>
          <p:cNvSpPr/>
          <p:nvPr/>
        </p:nvSpPr>
        <p:spPr>
          <a:xfrm>
            <a:off x="1198959" y="5605582"/>
            <a:ext cx="304835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Spring Security Filters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98959" y="6101120"/>
            <a:ext cx="35277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Protecting backend APIs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5235773" y="5335786"/>
            <a:ext cx="4158734" cy="1418153"/>
          </a:xfrm>
          <a:prstGeom prst="roundRect">
            <a:avLst>
              <a:gd name="adj" fmla="val 1031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05293" y="5335786"/>
            <a:ext cx="121920" cy="1418153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23" name="Text 21"/>
          <p:cNvSpPr/>
          <p:nvPr/>
        </p:nvSpPr>
        <p:spPr>
          <a:xfrm>
            <a:off x="5597009" y="56055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Token Validation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97009" y="6101120"/>
            <a:ext cx="35277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Enforced on every secured request</a:t>
            </a:r>
            <a:endParaRPr lang="en-US" sz="18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754FC0-99D3-AF6F-8405-0C0D7D731B27}"/>
              </a:ext>
            </a:extLst>
          </p:cNvPr>
          <p:cNvSpPr/>
          <p:nvPr/>
        </p:nvSpPr>
        <p:spPr>
          <a:xfrm>
            <a:off x="12884727" y="7803573"/>
            <a:ext cx="1631373" cy="3221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13/18</a:t>
            </a:r>
          </a:p>
        </p:txBody>
      </p:sp>
    </p:spTree>
    <p:extLst>
      <p:ext uri="{BB962C8B-B14F-4D97-AF65-F5344CB8AC3E}">
        <p14:creationId xmlns:p14="http://schemas.microsoft.com/office/powerpoint/2010/main" val="2098244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013" y="529471"/>
            <a:ext cx="1374219" cy="361950"/>
          </a:xfrm>
          <a:prstGeom prst="roundRect">
            <a:avLst>
              <a:gd name="adj" fmla="val 17877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89503" y="587216"/>
            <a:ext cx="114323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4013" y="968335"/>
            <a:ext cx="5012412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Normalized Database Design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4013" y="1883569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User:</a:t>
            </a: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Core user accounts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4013" y="2258973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Driver:</a:t>
            </a: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Driver-specific information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4013" y="2634377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Vehicle:</a:t>
            </a: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Fleet assets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4013" y="3009781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Trip:</a:t>
            </a: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Route and delivery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013" y="3491032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Relationships optimized for data integrity and minimal redundancy.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439" y="1719089"/>
            <a:ext cx="6406277" cy="64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54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17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8061" y="2955369"/>
            <a:ext cx="1607701" cy="364212"/>
          </a:xfrm>
          <a:prstGeom prst="roundRect">
            <a:avLst>
              <a:gd name="adj" fmla="val 17874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794266" y="3013472"/>
            <a:ext cx="13752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8061" y="3396972"/>
            <a:ext cx="4747974" cy="455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Testing &amp; Validated Results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678061" y="4143256"/>
            <a:ext cx="6540222" cy="581144"/>
          </a:xfrm>
          <a:prstGeom prst="roundRect">
            <a:avLst>
              <a:gd name="adj" fmla="val 48007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2856" y="4288512"/>
            <a:ext cx="290513" cy="2905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776" y="4918115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API Testing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871776" y="5319117"/>
            <a:ext cx="6152793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Verified with Postman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411998" y="4143256"/>
            <a:ext cx="6540341" cy="581144"/>
          </a:xfrm>
          <a:prstGeom prst="roundRect">
            <a:avLst>
              <a:gd name="adj" fmla="val 48007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6912" y="4288512"/>
            <a:ext cx="290513" cy="2905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05713" y="4918115"/>
            <a:ext cx="257425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Login &amp; Role Validation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605713" y="5319117"/>
            <a:ext cx="6152912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Successful implementation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78061" y="6016466"/>
            <a:ext cx="6540222" cy="581144"/>
          </a:xfrm>
          <a:prstGeom prst="roundRect">
            <a:avLst>
              <a:gd name="adj" fmla="val 48007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02856" y="6161723"/>
            <a:ext cx="290513" cy="2905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776" y="6791325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 Operations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71776" y="7192328"/>
            <a:ext cx="6152793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Stored &amp; retrieved effectively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411998" y="6016466"/>
            <a:ext cx="6540341" cy="581144"/>
          </a:xfrm>
          <a:prstGeom prst="roundRect">
            <a:avLst>
              <a:gd name="adj" fmla="val 48007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6912" y="6161723"/>
            <a:ext cx="290513" cy="2905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05713" y="6791325"/>
            <a:ext cx="231671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Frontend Integration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7605713" y="7192328"/>
            <a:ext cx="6152912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Supported by REST APIs</a:t>
            </a:r>
            <a:endParaRPr lang="en-US" sz="15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706F5D-939D-6229-8A83-7C89D70AEED7}"/>
              </a:ext>
            </a:extLst>
          </p:cNvPr>
          <p:cNvSpPr/>
          <p:nvPr/>
        </p:nvSpPr>
        <p:spPr>
          <a:xfrm>
            <a:off x="12780818" y="7772400"/>
            <a:ext cx="1735282" cy="324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15/18</a:t>
            </a:r>
          </a:p>
        </p:txBody>
      </p:sp>
    </p:spTree>
    <p:extLst>
      <p:ext uri="{BB962C8B-B14F-4D97-AF65-F5344CB8AC3E}">
        <p14:creationId xmlns:p14="http://schemas.microsoft.com/office/powerpoint/2010/main" val="1250145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6395" y="539234"/>
            <a:ext cx="896541" cy="368618"/>
          </a:xfrm>
          <a:prstGeom prst="roundRect">
            <a:avLst>
              <a:gd name="adj" fmla="val 17876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04029" y="598051"/>
            <a:ext cx="661273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6395" y="986195"/>
            <a:ext cx="3936087" cy="46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 Enhancements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337917" y="1741765"/>
            <a:ext cx="1325761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2864" y="2159794"/>
            <a:ext cx="275749" cy="275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59774" y="1937861"/>
            <a:ext cx="171723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Mobile Support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59774" y="2343864"/>
            <a:ext cx="171723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Native application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1667" y="2844165"/>
            <a:ext cx="9084350" cy="11430"/>
          </a:xfrm>
          <a:prstGeom prst="roundRect">
            <a:avLst>
              <a:gd name="adj" fmla="val 720645"/>
            </a:avLst>
          </a:prstGeom>
          <a:solidFill>
            <a:srgbClr val="D6BADD"/>
          </a:solidFill>
          <a:ln/>
        </p:spPr>
      </p:sp>
      <p:sp>
        <p:nvSpPr>
          <p:cNvPr id="10" name="Shape 7"/>
          <p:cNvSpPr/>
          <p:nvPr/>
        </p:nvSpPr>
        <p:spPr>
          <a:xfrm>
            <a:off x="2674977" y="2951678"/>
            <a:ext cx="2651522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2864" y="3369707"/>
            <a:ext cx="275749" cy="2757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22595" y="3147774"/>
            <a:ext cx="263175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Predictive Maintenance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522595" y="3553778"/>
            <a:ext cx="263175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Vehicle health analytics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24487" y="4054078"/>
            <a:ext cx="8421529" cy="11430"/>
          </a:xfrm>
          <a:prstGeom prst="roundRect">
            <a:avLst>
              <a:gd name="adj" fmla="val 720645"/>
            </a:avLst>
          </a:prstGeom>
          <a:solidFill>
            <a:srgbClr val="D6BADD"/>
          </a:solidFill>
          <a:ln/>
        </p:spPr>
      </p:sp>
      <p:sp>
        <p:nvSpPr>
          <p:cNvPr id="15" name="Shape 11"/>
          <p:cNvSpPr/>
          <p:nvPr/>
        </p:nvSpPr>
        <p:spPr>
          <a:xfrm>
            <a:off x="2012156" y="4161592"/>
            <a:ext cx="3977283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2864" y="4579620"/>
            <a:ext cx="275749" cy="2757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5535" y="4357688"/>
            <a:ext cx="198393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Driver Analytics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185535" y="4763691"/>
            <a:ext cx="198393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Behavior &amp; performance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087428" y="5263991"/>
            <a:ext cx="7758589" cy="11430"/>
          </a:xfrm>
          <a:prstGeom prst="roundRect">
            <a:avLst>
              <a:gd name="adj" fmla="val 720645"/>
            </a:avLst>
          </a:prstGeom>
          <a:solidFill>
            <a:srgbClr val="D6BADD"/>
          </a:solidFill>
          <a:ln/>
        </p:spPr>
      </p:sp>
      <p:sp>
        <p:nvSpPr>
          <p:cNvPr id="20" name="Shape 15"/>
          <p:cNvSpPr/>
          <p:nvPr/>
        </p:nvSpPr>
        <p:spPr>
          <a:xfrm>
            <a:off x="1349216" y="5371505"/>
            <a:ext cx="5303044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2864" y="5789533"/>
            <a:ext cx="275749" cy="2757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356" y="5567601"/>
            <a:ext cx="201822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Real-time GPS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848356" y="5973604"/>
            <a:ext cx="201822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tracking capabilities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750248" y="6473904"/>
            <a:ext cx="7095768" cy="11430"/>
          </a:xfrm>
          <a:prstGeom prst="roundRect">
            <a:avLst>
              <a:gd name="adj" fmla="val 720645"/>
            </a:avLst>
          </a:prstGeom>
          <a:solidFill>
            <a:srgbClr val="D6BADD"/>
          </a:solidFill>
          <a:ln/>
        </p:spPr>
      </p:sp>
      <p:sp>
        <p:nvSpPr>
          <p:cNvPr id="25" name="Shape 19"/>
          <p:cNvSpPr/>
          <p:nvPr/>
        </p:nvSpPr>
        <p:spPr>
          <a:xfrm>
            <a:off x="686395" y="6581418"/>
            <a:ext cx="6628805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62864" y="6999446"/>
            <a:ext cx="275749" cy="2757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11296" y="6777514"/>
            <a:ext cx="24779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 Route Optimization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7511296" y="7183517"/>
            <a:ext cx="2477929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pathfinding</a:t>
            </a:r>
            <a:endParaRPr lang="en-US" sz="15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07D8B8-3161-B8F3-B40B-BABF01EBBC7F}"/>
              </a:ext>
            </a:extLst>
          </p:cNvPr>
          <p:cNvSpPr/>
          <p:nvPr/>
        </p:nvSpPr>
        <p:spPr>
          <a:xfrm>
            <a:off x="12822382" y="7739063"/>
            <a:ext cx="1683327" cy="433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16/18</a:t>
            </a:r>
          </a:p>
        </p:txBody>
      </p:sp>
    </p:spTree>
    <p:extLst>
      <p:ext uri="{BB962C8B-B14F-4D97-AF65-F5344CB8AC3E}">
        <p14:creationId xmlns:p14="http://schemas.microsoft.com/office/powerpoint/2010/main" val="4216301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63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3775" y="2935724"/>
            <a:ext cx="880705" cy="361950"/>
          </a:xfrm>
          <a:prstGeom prst="roundRect">
            <a:avLst>
              <a:gd name="adj" fmla="val 17871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789265" y="2993469"/>
            <a:ext cx="64972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3775" y="3374588"/>
            <a:ext cx="9182933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NeuroFleetX: A Secure &amp; Scalable Solution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673775" y="4229457"/>
            <a:ext cx="6545223" cy="1329690"/>
          </a:xfrm>
          <a:prstGeom prst="roundRect">
            <a:avLst>
              <a:gd name="adj" fmla="val 60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44" y="4136827"/>
            <a:ext cx="230981" cy="23098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647" y="5420797"/>
            <a:ext cx="230981" cy="2309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5361" y="4541044"/>
            <a:ext cx="2924294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Modern Fleet Management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85361" y="4939546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system capabilities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7411403" y="4229457"/>
            <a:ext cx="6545223" cy="1329690"/>
          </a:xfrm>
          <a:prstGeom prst="roundRect">
            <a:avLst>
              <a:gd name="adj" fmla="val 60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772" y="4136827"/>
            <a:ext cx="230981" cy="23098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8275" y="5420797"/>
            <a:ext cx="230981" cy="23098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22989" y="4541044"/>
            <a:ext cx="226480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&amp; Scalable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7722989" y="4939546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Robust architecture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673775" y="5751552"/>
            <a:ext cx="6545223" cy="1329690"/>
          </a:xfrm>
          <a:prstGeom prst="roundRect">
            <a:avLst>
              <a:gd name="adj" fmla="val 60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44" y="5658922"/>
            <a:ext cx="230981" cy="230981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647" y="6942892"/>
            <a:ext cx="230981" cy="23098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85361" y="6063139"/>
            <a:ext cx="244447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Critical Driver Module</a:t>
            </a:r>
            <a:endParaRPr lang="en-US" sz="1750" dirty="0"/>
          </a:p>
        </p:txBody>
      </p:sp>
      <p:sp>
        <p:nvSpPr>
          <p:cNvPr id="20" name="Text 11"/>
          <p:cNvSpPr/>
          <p:nvPr/>
        </p:nvSpPr>
        <p:spPr>
          <a:xfrm>
            <a:off x="985361" y="6461641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 to operations</a:t>
            </a:r>
            <a:endParaRPr lang="en-US" sz="1500" dirty="0"/>
          </a:p>
        </p:txBody>
      </p:sp>
      <p:sp>
        <p:nvSpPr>
          <p:cNvPr id="21" name="Shape 12"/>
          <p:cNvSpPr/>
          <p:nvPr/>
        </p:nvSpPr>
        <p:spPr>
          <a:xfrm>
            <a:off x="7411403" y="5751552"/>
            <a:ext cx="6545223" cy="1329690"/>
          </a:xfrm>
          <a:prstGeom prst="roundRect">
            <a:avLst>
              <a:gd name="adj" fmla="val 60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772" y="5658922"/>
            <a:ext cx="230981" cy="230981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8275" y="6942892"/>
            <a:ext cx="230981" cy="230981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722989" y="6063139"/>
            <a:ext cx="226480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Real-world Skills</a:t>
            </a:r>
            <a:endParaRPr lang="en-US" sz="1750" dirty="0"/>
          </a:p>
        </p:txBody>
      </p:sp>
      <p:sp>
        <p:nvSpPr>
          <p:cNvPr id="25" name="Text 14"/>
          <p:cNvSpPr/>
          <p:nvPr/>
        </p:nvSpPr>
        <p:spPr>
          <a:xfrm>
            <a:off x="7722989" y="6461641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development expertise</a:t>
            </a:r>
            <a:endParaRPr lang="en-US" sz="15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EC5438-8734-C341-4DBE-93F511688EBE}"/>
              </a:ext>
            </a:extLst>
          </p:cNvPr>
          <p:cNvSpPr/>
          <p:nvPr/>
        </p:nvSpPr>
        <p:spPr>
          <a:xfrm>
            <a:off x="12905509" y="7762009"/>
            <a:ext cx="1610591" cy="3844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17/18</a:t>
            </a:r>
          </a:p>
        </p:txBody>
      </p:sp>
    </p:spTree>
    <p:extLst>
      <p:ext uri="{BB962C8B-B14F-4D97-AF65-F5344CB8AC3E}">
        <p14:creationId xmlns:p14="http://schemas.microsoft.com/office/powerpoint/2010/main" val="974709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FCC7C-0712-AFD2-3554-B929272B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D52B1CBE-A0C1-BF92-55C9-9397D47B537B}"/>
              </a:ext>
            </a:extLst>
          </p:cNvPr>
          <p:cNvSpPr/>
          <p:nvPr/>
        </p:nvSpPr>
        <p:spPr>
          <a:xfrm>
            <a:off x="789265" y="2993469"/>
            <a:ext cx="64972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01BDCD-E250-996C-448E-911ECA576653}"/>
              </a:ext>
            </a:extLst>
          </p:cNvPr>
          <p:cNvSpPr/>
          <p:nvPr/>
        </p:nvSpPr>
        <p:spPr>
          <a:xfrm>
            <a:off x="673775" y="3374588"/>
            <a:ext cx="9182933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15000" dirty="0">
              <a:solidFill>
                <a:srgbClr val="000000"/>
              </a:solidFill>
              <a:latin typeface="Source Serif 4 Semi Bold" pitchFamily="34" charset="0"/>
              <a:ea typeface="Source Serif 4 Semi Bold" pitchFamily="34" charset="-122"/>
            </a:endParaRPr>
          </a:p>
          <a:p>
            <a:pPr marL="0" indent="0" algn="l">
              <a:lnSpc>
                <a:spcPts val="4450"/>
              </a:lnSpc>
              <a:buNone/>
            </a:pPr>
            <a:r>
              <a:rPr lang="en-US" sz="150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</a:rPr>
              <a:t>		</a:t>
            </a:r>
          </a:p>
          <a:p>
            <a:pPr marL="0" indent="0" algn="l">
              <a:lnSpc>
                <a:spcPts val="4450"/>
              </a:lnSpc>
              <a:buNone/>
            </a:pPr>
            <a:r>
              <a:rPr lang="en-US" sz="150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</a:rPr>
              <a:t>		Thank You</a:t>
            </a:r>
            <a:endParaRPr lang="en-US" sz="150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C310761-CF33-61AB-252C-E36F6A96A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27" y="2867100"/>
            <a:ext cx="1293235" cy="1293235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E07E9D8B-F630-3067-171C-212821BBBB84}"/>
              </a:ext>
            </a:extLst>
          </p:cNvPr>
          <p:cNvSpPr/>
          <p:nvPr/>
        </p:nvSpPr>
        <p:spPr>
          <a:xfrm>
            <a:off x="985361" y="4939546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DBAF32A-7938-DE77-6B2A-D31F07524DEA}"/>
              </a:ext>
            </a:extLst>
          </p:cNvPr>
          <p:cNvSpPr/>
          <p:nvPr/>
        </p:nvSpPr>
        <p:spPr>
          <a:xfrm>
            <a:off x="7722989" y="4541044"/>
            <a:ext cx="226480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58EE257-A824-B988-6648-C5BE2DCB2ED3}"/>
              </a:ext>
            </a:extLst>
          </p:cNvPr>
          <p:cNvSpPr/>
          <p:nvPr/>
        </p:nvSpPr>
        <p:spPr>
          <a:xfrm>
            <a:off x="7722989" y="4939546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439ADD9E-49E2-0748-DA7A-FB819106C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9998" y="2903469"/>
            <a:ext cx="1220499" cy="1220499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075A2EBF-A568-12BF-C91B-4BF30D509AB9}"/>
              </a:ext>
            </a:extLst>
          </p:cNvPr>
          <p:cNvSpPr/>
          <p:nvPr/>
        </p:nvSpPr>
        <p:spPr>
          <a:xfrm>
            <a:off x="985361" y="6063139"/>
            <a:ext cx="244447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B2026F63-9702-FE27-510A-4F727806C86D}"/>
              </a:ext>
            </a:extLst>
          </p:cNvPr>
          <p:cNvSpPr/>
          <p:nvPr/>
        </p:nvSpPr>
        <p:spPr>
          <a:xfrm>
            <a:off x="985361" y="6461641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27D91764-7777-82EF-2A01-75B7D12AD4B5}"/>
              </a:ext>
            </a:extLst>
          </p:cNvPr>
          <p:cNvSpPr/>
          <p:nvPr/>
        </p:nvSpPr>
        <p:spPr>
          <a:xfrm>
            <a:off x="7722989" y="6063139"/>
            <a:ext cx="226480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FB37E8-255B-9B97-0CB6-911B77FED6C1}"/>
              </a:ext>
            </a:extLst>
          </p:cNvPr>
          <p:cNvSpPr/>
          <p:nvPr/>
        </p:nvSpPr>
        <p:spPr>
          <a:xfrm>
            <a:off x="12905509" y="7762009"/>
            <a:ext cx="1610591" cy="3844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18/18</a:t>
            </a:r>
          </a:p>
        </p:txBody>
      </p:sp>
    </p:spTree>
    <p:extLst>
      <p:ext uri="{BB962C8B-B14F-4D97-AF65-F5344CB8AC3E}">
        <p14:creationId xmlns:p14="http://schemas.microsoft.com/office/powerpoint/2010/main" val="2631251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605</Words>
  <Application>Microsoft Office PowerPoint</Application>
  <PresentationFormat>Custom</PresentationFormat>
  <Paragraphs>207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Source Serif 4 Semi Bold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Narmadha Loganathan</cp:lastModifiedBy>
  <cp:revision>3</cp:revision>
  <dcterms:created xsi:type="dcterms:W3CDTF">2026-01-04T11:05:52Z</dcterms:created>
  <dcterms:modified xsi:type="dcterms:W3CDTF">2026-01-12T15:18:46Z</dcterms:modified>
</cp:coreProperties>
</file>